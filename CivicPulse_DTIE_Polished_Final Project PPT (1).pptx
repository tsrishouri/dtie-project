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71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1810"/>
              </a:lnSpc>
            </a:pPr>
            <a:r>
              <a:rPr spc="-80" dirty="0"/>
              <a:t>Ideathon’24</a:t>
            </a:r>
            <a:r>
              <a:rPr spc="-100" dirty="0"/>
              <a:t> </a:t>
            </a:r>
            <a:r>
              <a:rPr spc="-75" dirty="0"/>
              <a:t>E6</a:t>
            </a:r>
            <a:r>
              <a:rPr spc="-114" dirty="0"/>
              <a:t> </a:t>
            </a:r>
            <a:r>
              <a:rPr spc="-130" dirty="0"/>
              <a:t>|</a:t>
            </a:r>
            <a:r>
              <a:rPr spc="-110" dirty="0"/>
              <a:t> </a:t>
            </a:r>
            <a:r>
              <a:rPr spc="-90" dirty="0"/>
              <a:t>ACIC</a:t>
            </a:r>
            <a:r>
              <a:rPr spc="-110" dirty="0"/>
              <a:t> </a:t>
            </a:r>
            <a:r>
              <a:rPr spc="-140" dirty="0"/>
              <a:t>KL</a:t>
            </a:r>
            <a:r>
              <a:rPr spc="-90" dirty="0"/>
              <a:t> </a:t>
            </a:r>
            <a:r>
              <a:rPr spc="-85" dirty="0"/>
              <a:t>Startups</a:t>
            </a:r>
            <a:r>
              <a:rPr spc="-105" dirty="0"/>
              <a:t> </a:t>
            </a:r>
            <a:r>
              <a:rPr spc="-50" dirty="0"/>
              <a:t>Foundation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1810"/>
              </a:lnSpc>
            </a:pPr>
            <a:r>
              <a:rPr spc="-80" dirty="0"/>
              <a:t>Ideathon’24</a:t>
            </a:r>
            <a:r>
              <a:rPr spc="-100" dirty="0"/>
              <a:t> </a:t>
            </a:r>
            <a:r>
              <a:rPr spc="-75" dirty="0"/>
              <a:t>E6</a:t>
            </a:r>
            <a:r>
              <a:rPr spc="-114" dirty="0"/>
              <a:t> </a:t>
            </a:r>
            <a:r>
              <a:rPr spc="-130" dirty="0"/>
              <a:t>|</a:t>
            </a:r>
            <a:r>
              <a:rPr spc="-110" dirty="0"/>
              <a:t> </a:t>
            </a:r>
            <a:r>
              <a:rPr spc="-90" dirty="0"/>
              <a:t>ACIC</a:t>
            </a:r>
            <a:r>
              <a:rPr spc="-110" dirty="0"/>
              <a:t> </a:t>
            </a:r>
            <a:r>
              <a:rPr spc="-140" dirty="0"/>
              <a:t>KL</a:t>
            </a:r>
            <a:r>
              <a:rPr spc="-90" dirty="0"/>
              <a:t> </a:t>
            </a:r>
            <a:r>
              <a:rPr spc="-85" dirty="0"/>
              <a:t>Startups</a:t>
            </a:r>
            <a:r>
              <a:rPr spc="-105" dirty="0"/>
              <a:t> </a:t>
            </a:r>
            <a:r>
              <a:rPr spc="-50" dirty="0"/>
              <a:t>Foundation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1810"/>
              </a:lnSpc>
            </a:pPr>
            <a:r>
              <a:rPr spc="-80" dirty="0"/>
              <a:t>Ideathon’24</a:t>
            </a:r>
            <a:r>
              <a:rPr spc="-100" dirty="0"/>
              <a:t> </a:t>
            </a:r>
            <a:r>
              <a:rPr spc="-75" dirty="0"/>
              <a:t>E6</a:t>
            </a:r>
            <a:r>
              <a:rPr spc="-114" dirty="0"/>
              <a:t> </a:t>
            </a:r>
            <a:r>
              <a:rPr spc="-130" dirty="0"/>
              <a:t>|</a:t>
            </a:r>
            <a:r>
              <a:rPr spc="-110" dirty="0"/>
              <a:t> </a:t>
            </a:r>
            <a:r>
              <a:rPr spc="-90" dirty="0"/>
              <a:t>ACIC</a:t>
            </a:r>
            <a:r>
              <a:rPr spc="-110" dirty="0"/>
              <a:t> </a:t>
            </a:r>
            <a:r>
              <a:rPr spc="-140" dirty="0"/>
              <a:t>KL</a:t>
            </a:r>
            <a:r>
              <a:rPr spc="-90" dirty="0"/>
              <a:t> </a:t>
            </a:r>
            <a:r>
              <a:rPr spc="-85" dirty="0"/>
              <a:t>Startups</a:t>
            </a:r>
            <a:r>
              <a:rPr spc="-105" dirty="0"/>
              <a:t> </a:t>
            </a:r>
            <a:r>
              <a:rPr spc="-50" dirty="0"/>
              <a:t>Foundation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1810"/>
              </a:lnSpc>
            </a:pPr>
            <a:r>
              <a:rPr spc="-80" dirty="0"/>
              <a:t>Ideathon’24</a:t>
            </a:r>
            <a:r>
              <a:rPr spc="-100" dirty="0"/>
              <a:t> </a:t>
            </a:r>
            <a:r>
              <a:rPr spc="-75" dirty="0"/>
              <a:t>E6</a:t>
            </a:r>
            <a:r>
              <a:rPr spc="-114" dirty="0"/>
              <a:t> </a:t>
            </a:r>
            <a:r>
              <a:rPr spc="-130" dirty="0"/>
              <a:t>|</a:t>
            </a:r>
            <a:r>
              <a:rPr spc="-110" dirty="0"/>
              <a:t> </a:t>
            </a:r>
            <a:r>
              <a:rPr spc="-90" dirty="0"/>
              <a:t>ACIC</a:t>
            </a:r>
            <a:r>
              <a:rPr spc="-110" dirty="0"/>
              <a:t> </a:t>
            </a:r>
            <a:r>
              <a:rPr spc="-140" dirty="0"/>
              <a:t>KL</a:t>
            </a:r>
            <a:r>
              <a:rPr spc="-90" dirty="0"/>
              <a:t> </a:t>
            </a:r>
            <a:r>
              <a:rPr spc="-85" dirty="0"/>
              <a:t>Startups</a:t>
            </a:r>
            <a:r>
              <a:rPr spc="-105" dirty="0"/>
              <a:t> </a:t>
            </a:r>
            <a:r>
              <a:rPr spc="-50" dirty="0"/>
              <a:t>Foundation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1810"/>
              </a:lnSpc>
            </a:pPr>
            <a:r>
              <a:rPr spc="-80" dirty="0"/>
              <a:t>Ideathon’24</a:t>
            </a:r>
            <a:r>
              <a:rPr spc="-100" dirty="0"/>
              <a:t> </a:t>
            </a:r>
            <a:r>
              <a:rPr spc="-75" dirty="0"/>
              <a:t>E6</a:t>
            </a:r>
            <a:r>
              <a:rPr spc="-114" dirty="0"/>
              <a:t> </a:t>
            </a:r>
            <a:r>
              <a:rPr spc="-130" dirty="0"/>
              <a:t>|</a:t>
            </a:r>
            <a:r>
              <a:rPr spc="-110" dirty="0"/>
              <a:t> </a:t>
            </a:r>
            <a:r>
              <a:rPr spc="-90" dirty="0"/>
              <a:t>ACIC</a:t>
            </a:r>
            <a:r>
              <a:rPr spc="-110" dirty="0"/>
              <a:t> </a:t>
            </a:r>
            <a:r>
              <a:rPr spc="-140" dirty="0"/>
              <a:t>KL</a:t>
            </a:r>
            <a:r>
              <a:rPr spc="-90" dirty="0"/>
              <a:t> </a:t>
            </a:r>
            <a:r>
              <a:rPr spc="-85" dirty="0"/>
              <a:t>Startups</a:t>
            </a:r>
            <a:r>
              <a:rPr spc="-105" dirty="0"/>
              <a:t> </a:t>
            </a:r>
            <a:r>
              <a:rPr spc="-50" dirty="0"/>
              <a:t>Foundation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939" y="609676"/>
            <a:ext cx="9410700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939" y="1707918"/>
            <a:ext cx="10360660" cy="36074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957065" y="6432753"/>
            <a:ext cx="4277995" cy="254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1810"/>
              </a:lnSpc>
            </a:pPr>
            <a:r>
              <a:rPr spc="-80" dirty="0"/>
              <a:t>Ideathon’24</a:t>
            </a:r>
            <a:r>
              <a:rPr spc="-100" dirty="0"/>
              <a:t> </a:t>
            </a:r>
            <a:r>
              <a:rPr spc="-75" dirty="0"/>
              <a:t>E6</a:t>
            </a:r>
            <a:r>
              <a:rPr spc="-114" dirty="0"/>
              <a:t> </a:t>
            </a:r>
            <a:r>
              <a:rPr spc="-130" dirty="0"/>
              <a:t>|</a:t>
            </a:r>
            <a:r>
              <a:rPr spc="-110" dirty="0"/>
              <a:t> </a:t>
            </a:r>
            <a:r>
              <a:rPr spc="-90" dirty="0"/>
              <a:t>ACIC</a:t>
            </a:r>
            <a:r>
              <a:rPr spc="-110" dirty="0"/>
              <a:t> </a:t>
            </a:r>
            <a:r>
              <a:rPr spc="-140" dirty="0"/>
              <a:t>KL</a:t>
            </a:r>
            <a:r>
              <a:rPr spc="-90" dirty="0"/>
              <a:t> </a:t>
            </a:r>
            <a:r>
              <a:rPr spc="-85" dirty="0"/>
              <a:t>Startups</a:t>
            </a:r>
            <a:r>
              <a:rPr spc="-105" dirty="0"/>
              <a:t> </a:t>
            </a:r>
            <a:r>
              <a:rPr spc="-50" dirty="0"/>
              <a:t>Foundation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7A58CA59-642D-8934-EA15-579EF9646E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14250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4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292608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7917E"/>
                </a:solidFill>
                <a:latin typeface="Aptos"/>
              </a:defRPr>
            </a:pPr>
            <a:r>
              <a:t>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76072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0D2237"/>
                </a:solidFill>
                <a:latin typeface="Aptos"/>
              </a:defRPr>
            </a:pPr>
            <a:r>
              <a:t>The people behind CivicPulse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10896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1">
                <a:solidFill>
                  <a:srgbClr val="63717C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207008"/>
            <a:ext cx="777240" cy="50292"/>
          </a:xfrm>
          <a:prstGeom prst="rect">
            <a:avLst/>
          </a:prstGeom>
          <a:solidFill>
            <a:srgbClr val="1791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85800" y="1600200"/>
            <a:ext cx="3246120" cy="1572768"/>
          </a:xfrm>
          <a:prstGeom prst="roundRect">
            <a:avLst/>
          </a:prstGeom>
          <a:solidFill>
            <a:srgbClr val="F6F9FA"/>
          </a:solidFill>
          <a:ln>
            <a:solidFill>
              <a:srgbClr val="D5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86968" y="1828800"/>
            <a:ext cx="685800" cy="685800"/>
          </a:xfrm>
          <a:prstGeom prst="roundRect">
            <a:avLst/>
          </a:prstGeom>
          <a:solidFill>
            <a:srgbClr val="1791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6968" y="1856232"/>
            <a:ext cx="685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92807"/>
            <a:ext cx="187451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2237"/>
                </a:solidFill>
                <a:latin typeface="Aptos"/>
              </a:defRPr>
            </a:pPr>
            <a:r>
              <a:t>T. Srishouri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64792" y="2313432"/>
            <a:ext cx="187451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3717C"/>
                </a:solidFill>
                <a:latin typeface="Aptos"/>
              </a:defRPr>
            </a:pPr>
            <a:r>
              <a:t>2620030041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600200"/>
            <a:ext cx="3246120" cy="1572768"/>
          </a:xfrm>
          <a:prstGeom prst="roundRect">
            <a:avLst/>
          </a:prstGeom>
          <a:solidFill>
            <a:srgbClr val="F6F9FA"/>
          </a:solidFill>
          <a:ln>
            <a:solidFill>
              <a:srgbClr val="D5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590288" y="1828800"/>
            <a:ext cx="685800" cy="685800"/>
          </a:xfrm>
          <a:prstGeom prst="roundRect">
            <a:avLst/>
          </a:prstGeom>
          <a:solidFill>
            <a:srgbClr val="1791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90288" y="1856232"/>
            <a:ext cx="685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68112" y="1892807"/>
            <a:ext cx="187451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2237"/>
                </a:solidFill>
                <a:latin typeface="Aptos"/>
              </a:defRPr>
            </a:pPr>
            <a:r>
              <a:t>Sagar Reddy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68112" y="2313432"/>
            <a:ext cx="187451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3717C"/>
                </a:solidFill>
                <a:latin typeface="Aptos"/>
              </a:defRPr>
            </a:pPr>
            <a:r>
              <a:t>2620030055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1600200"/>
            <a:ext cx="3246120" cy="1572768"/>
          </a:xfrm>
          <a:prstGeom prst="roundRect">
            <a:avLst/>
          </a:prstGeom>
          <a:solidFill>
            <a:srgbClr val="F6F9FA"/>
          </a:solidFill>
          <a:ln>
            <a:solidFill>
              <a:srgbClr val="D5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293608" y="1828800"/>
            <a:ext cx="685800" cy="685800"/>
          </a:xfrm>
          <a:prstGeom prst="roundRect">
            <a:avLst/>
          </a:prstGeom>
          <a:solidFill>
            <a:srgbClr val="1791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93608" y="1856232"/>
            <a:ext cx="685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71432" y="1892807"/>
            <a:ext cx="187451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2237"/>
                </a:solidFill>
                <a:latin typeface="Aptos"/>
              </a:defRPr>
            </a:pPr>
            <a:r>
              <a:t>Ch. Praneeth Varma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71432" y="2313432"/>
            <a:ext cx="187451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3717C"/>
                </a:solidFill>
                <a:latin typeface="Aptos"/>
              </a:defRPr>
            </a:pPr>
            <a:r>
              <a:t>2620090012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3657600"/>
            <a:ext cx="3246120" cy="1572768"/>
          </a:xfrm>
          <a:prstGeom prst="roundRect">
            <a:avLst/>
          </a:prstGeom>
          <a:solidFill>
            <a:srgbClr val="F6F9FA"/>
          </a:solidFill>
          <a:ln>
            <a:solidFill>
              <a:srgbClr val="D5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86968" y="3886200"/>
            <a:ext cx="685800" cy="685800"/>
          </a:xfrm>
          <a:prstGeom prst="roundRect">
            <a:avLst/>
          </a:prstGeom>
          <a:solidFill>
            <a:srgbClr val="1791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86968" y="3913632"/>
            <a:ext cx="685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3950208"/>
            <a:ext cx="187451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2237"/>
                </a:solidFill>
                <a:latin typeface="Aptos"/>
              </a:defRPr>
            </a:pPr>
            <a:r>
              <a:t>Jashwanth Sagar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64792" y="4370832"/>
            <a:ext cx="187451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3717C"/>
                </a:solidFill>
                <a:latin typeface="Aptos"/>
              </a:defRPr>
            </a:pPr>
            <a:r>
              <a:t>2620030489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89120" y="3657600"/>
            <a:ext cx="3246120" cy="1572768"/>
          </a:xfrm>
          <a:prstGeom prst="roundRect">
            <a:avLst/>
          </a:prstGeom>
          <a:solidFill>
            <a:srgbClr val="F6F9FA"/>
          </a:solidFill>
          <a:ln>
            <a:solidFill>
              <a:srgbClr val="D5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4590288" y="3886200"/>
            <a:ext cx="685800" cy="685800"/>
          </a:xfrm>
          <a:prstGeom prst="roundRect">
            <a:avLst/>
          </a:prstGeom>
          <a:solidFill>
            <a:srgbClr val="1791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90288" y="3913632"/>
            <a:ext cx="685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68112" y="3950208"/>
            <a:ext cx="187451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2237"/>
                </a:solidFill>
                <a:latin typeface="Aptos"/>
              </a:defRPr>
            </a:pPr>
            <a:r>
              <a:t>K. Raghavendra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68112" y="4370832"/>
            <a:ext cx="187451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3717C"/>
                </a:solidFill>
                <a:latin typeface="Aptos"/>
              </a:defRPr>
            </a:pPr>
            <a:r>
              <a:t>2620030549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92440" y="3657600"/>
            <a:ext cx="3246120" cy="1572768"/>
          </a:xfrm>
          <a:prstGeom prst="roundRect">
            <a:avLst/>
          </a:prstGeom>
          <a:solidFill>
            <a:srgbClr val="F6F9FA"/>
          </a:solidFill>
          <a:ln>
            <a:solidFill>
              <a:srgbClr val="D5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8293608" y="3886200"/>
            <a:ext cx="685800" cy="685800"/>
          </a:xfrm>
          <a:prstGeom prst="roundRect">
            <a:avLst/>
          </a:prstGeom>
          <a:solidFill>
            <a:srgbClr val="1791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293608" y="3913632"/>
            <a:ext cx="685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71432" y="3950208"/>
            <a:ext cx="187451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2237"/>
                </a:solidFill>
                <a:latin typeface="Aptos"/>
              </a:defRPr>
            </a:pPr>
            <a:r>
              <a:t>V. Bhargav Sri Datta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71432" y="4370832"/>
            <a:ext cx="187451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3717C"/>
                </a:solidFill>
                <a:latin typeface="Aptos"/>
              </a:defRPr>
            </a:pPr>
            <a:r>
              <a:t>2620090012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6510528"/>
            <a:ext cx="6858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63717C"/>
                </a:solidFill>
                <a:latin typeface="Aptos"/>
              </a:defRPr>
            </a:pPr>
            <a:r>
              <a:t>CIVICPULSE  •  DTIE  •  GROUP 3  •  KLH BACHUPALLY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58200" y="6510528"/>
            <a:ext cx="3108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63717C"/>
                </a:solidFill>
                <a:latin typeface="Aptos"/>
              </a:defRPr>
            </a:pPr>
            <a:r>
              <a:t>CLEAN &amp; GREEN TECHNOLOGY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94360" y="292608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7917E"/>
                </a:solidFill>
                <a:latin typeface="Aptos"/>
              </a:defRPr>
            </a:pPr>
            <a:r>
              <a:t>01 • DIRECTION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76072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0D2237"/>
                </a:solidFill>
                <a:latin typeface="Aptos"/>
              </a:defRPr>
            </a:pPr>
            <a:r>
              <a:t>Vision &amp; mission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10896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1">
                <a:solidFill>
                  <a:srgbClr val="63717C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207008"/>
            <a:ext cx="777240" cy="50292"/>
          </a:xfrm>
          <a:prstGeom prst="rect">
            <a:avLst/>
          </a:prstGeom>
          <a:solidFill>
            <a:srgbClr val="1791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85800" y="1600200"/>
            <a:ext cx="52120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5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600200"/>
            <a:ext cx="64008" cy="3566160"/>
          </a:xfrm>
          <a:prstGeom prst="rect">
            <a:avLst/>
          </a:prstGeom>
          <a:solidFill>
            <a:srgbClr val="1791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764792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2237"/>
                </a:solidFill>
                <a:latin typeface="Aptos"/>
              </a:defRPr>
            </a:pPr>
            <a:r>
              <a:t>VISION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67128"/>
            <a:ext cx="4754880" cy="2880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22D37"/>
                </a:solidFill>
                <a:latin typeface="Aptos"/>
              </a:defRPr>
            </a:pPr>
            <a:r>
              <a:t>Build a transparent civic ecosystem where every reported issue has an owner, a deadline and proof of resolution.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600200"/>
            <a:ext cx="52120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5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26480" y="1600200"/>
            <a:ext cx="64008" cy="3566160"/>
          </a:xfrm>
          <a:prstGeom prst="rect">
            <a:avLst/>
          </a:prstGeom>
          <a:solidFill>
            <a:srgbClr val="F49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55080" y="1764792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2237"/>
                </a:solidFill>
                <a:latin typeface="Aptos"/>
              </a:defRPr>
            </a:pPr>
            <a:r>
              <a:t>MISSION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167128"/>
            <a:ext cx="4754880" cy="2880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22D37"/>
                </a:solidFill>
                <a:latin typeface="Aptos"/>
              </a:defRPr>
            </a:pPr>
            <a:r>
              <a:t>Make civic reporting simple, traceable and evidence-backed through one connected workflow for citizens, field workers and municipal supervisors.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48640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7917E"/>
                </a:solidFill>
                <a:latin typeface="Aptos"/>
              </a:defRPr>
            </a:pPr>
            <a:r>
              <a:t>DESIGN PRINCIPLE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23160" y="5449824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2237"/>
                </a:solidFill>
                <a:latin typeface="Aptos"/>
              </a:defRPr>
            </a:pPr>
            <a:r>
              <a:t>AI assists • authorized officials remain accountable • privacy-by-design • evidence-backed closure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510528"/>
            <a:ext cx="6858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63717C"/>
                </a:solidFill>
                <a:latin typeface="Aptos"/>
              </a:defRPr>
            </a:pPr>
            <a:r>
              <a:t>CIVICPULSE  •  DTIE  •  GROUP 3  •  KLH BACHUPALLY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6510528"/>
            <a:ext cx="3108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63717C"/>
                </a:solidFill>
                <a:latin typeface="Aptos"/>
              </a:defRPr>
            </a:pPr>
            <a:r>
              <a:t>CLEAN &amp; GREEN TECHNOLOGY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4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292608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7917E"/>
                </a:solidFill>
                <a:latin typeface="Aptos"/>
              </a:defRPr>
            </a:pPr>
            <a:r>
              <a:t>02 •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76072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0D2237"/>
                </a:solidFill>
                <a:latin typeface="Aptos"/>
              </a:defRPr>
            </a:pPr>
            <a:r>
              <a:t>The gap is not reporting — it is accountability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10896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1">
                <a:solidFill>
                  <a:srgbClr val="63717C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207008"/>
            <a:ext cx="777240" cy="50292"/>
          </a:xfrm>
          <a:prstGeom prst="rect">
            <a:avLst/>
          </a:prstGeom>
          <a:solidFill>
            <a:srgbClr val="1791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0D2237"/>
                </a:solidFill>
                <a:latin typeface="Aptos"/>
              </a:defRPr>
            </a:pPr>
            <a:r>
              <a:t>WHO owns it?  •  WHAT changed?  •  WAS it actually fixed?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423160"/>
            <a:ext cx="2148840" cy="1234440"/>
          </a:xfrm>
          <a:prstGeom prst="roundRect">
            <a:avLst/>
          </a:prstGeom>
          <a:solidFill>
            <a:srgbClr val="1791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2624328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REPORT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990088"/>
            <a:ext cx="2148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Aptos"/>
              </a:defRPr>
            </a:pPr>
            <a:r>
              <a:t>Issue submitted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834640" y="3035808"/>
            <a:ext cx="484632" cy="0"/>
          </a:xfrm>
          <a:prstGeom prst="line">
            <a:avLst/>
          </a:prstGeom>
          <a:ln w="22860">
            <a:solidFill>
              <a:srgbClr val="6371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29000" y="2423160"/>
            <a:ext cx="2148840" cy="1234440"/>
          </a:xfrm>
          <a:prstGeom prst="roundRect">
            <a:avLst/>
          </a:prstGeom>
          <a:solidFill>
            <a:srgbClr val="F49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29000" y="2624328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OWNER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2990088"/>
            <a:ext cx="2148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Aptos"/>
              </a:defRPr>
            </a:pPr>
            <a:r>
              <a:t>Who acts?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577840" y="3035808"/>
            <a:ext cx="484632" cy="0"/>
          </a:xfrm>
          <a:prstGeom prst="line">
            <a:avLst/>
          </a:prstGeom>
          <a:ln w="22860">
            <a:solidFill>
              <a:srgbClr val="6371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172200" y="2423160"/>
            <a:ext cx="2148840" cy="1234440"/>
          </a:xfrm>
          <a:prstGeom prst="roundRect">
            <a:avLst/>
          </a:prstGeom>
          <a:solidFill>
            <a:srgbClr val="1791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72200" y="2624328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PROGRESS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2990088"/>
            <a:ext cx="2148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Aptos"/>
              </a:defRPr>
            </a:pPr>
            <a:r>
              <a:t>What changed?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321040" y="3035808"/>
            <a:ext cx="484632" cy="0"/>
          </a:xfrm>
          <a:prstGeom prst="line">
            <a:avLst/>
          </a:prstGeom>
          <a:ln w="22860">
            <a:solidFill>
              <a:srgbClr val="6371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915400" y="2423160"/>
            <a:ext cx="2148840" cy="1234440"/>
          </a:xfrm>
          <a:prstGeom prst="roundRect">
            <a:avLst/>
          </a:prstGeom>
          <a:solidFill>
            <a:srgbClr val="DC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915400" y="2624328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PROOF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15400" y="2990088"/>
            <a:ext cx="2148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Aptos"/>
              </a:defRPr>
            </a:pPr>
            <a:r>
              <a:t>Was it fixed?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069080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5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85800" y="4069080"/>
            <a:ext cx="64008" cy="1417320"/>
          </a:xfrm>
          <a:prstGeom prst="rect">
            <a:avLst/>
          </a:prstGeom>
          <a:solidFill>
            <a:srgbClr val="DC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4400" y="4233672"/>
            <a:ext cx="2880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2237"/>
                </a:solidFill>
                <a:latin typeface="Aptos"/>
              </a:defRPr>
            </a:pPr>
            <a:r>
              <a:t>VISIBLE ISSUES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636008"/>
            <a:ext cx="2880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22D37"/>
                </a:solidFill>
                <a:latin typeface="Aptos"/>
              </a:defRPr>
            </a:pPr>
            <a:r>
              <a:t>Potholes • waste • streetlights • sewage • waterlogging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51960" y="4069080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5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251960" y="4069080"/>
            <a:ext cx="64008" cy="1417320"/>
          </a:xfrm>
          <a:prstGeom prst="rect">
            <a:avLst/>
          </a:prstGeom>
          <a:solidFill>
            <a:srgbClr val="F49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480560" y="4233672"/>
            <a:ext cx="2880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2237"/>
                </a:solidFill>
                <a:latin typeface="Aptos"/>
              </a:defRPr>
            </a:pPr>
            <a:r>
              <a:t>FOLLOW-UP FRICTION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4636008"/>
            <a:ext cx="2880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22D37"/>
                </a:solidFill>
                <a:latin typeface="Aptos"/>
              </a:defRPr>
            </a:pPr>
            <a:r>
              <a:t>Repeated complaints can fragment ownership and progress.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818120" y="4069080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5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818120" y="4069080"/>
            <a:ext cx="64008" cy="1417320"/>
          </a:xfrm>
          <a:prstGeom prst="rect">
            <a:avLst/>
          </a:prstGeom>
          <a:solidFill>
            <a:srgbClr val="1791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046720" y="4233672"/>
            <a:ext cx="2880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2237"/>
                </a:solidFill>
                <a:latin typeface="Aptos"/>
              </a:defRPr>
            </a:pPr>
            <a:r>
              <a:t>CLOSURE UNCERTAINTY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20" y="4636008"/>
            <a:ext cx="2880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22D37"/>
                </a:solidFill>
                <a:latin typeface="Aptos"/>
              </a:defRPr>
            </a:pPr>
            <a:r>
              <a:t>Without evidence, “resolved” may be hard to verify.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6510528"/>
            <a:ext cx="6858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63717C"/>
                </a:solidFill>
                <a:latin typeface="Aptos"/>
              </a:defRPr>
            </a:pPr>
            <a:r>
              <a:t>CIVICPULSE  •  DTIE  •  GROUP 3  •  KLH BACHUPALLY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58200" y="6510528"/>
            <a:ext cx="3108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63717C"/>
                </a:solidFill>
                <a:latin typeface="Aptos"/>
              </a:defRPr>
            </a:pPr>
            <a:r>
              <a:t>CLEAN &amp; GREEN TECHNOLOGY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94360" y="292608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7917E"/>
                </a:solidFill>
                <a:latin typeface="Aptos"/>
              </a:defRPr>
            </a:pPr>
            <a:r>
              <a:t>03 • RESEARCH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76072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0D2237"/>
                </a:solidFill>
                <a:latin typeface="Aptos"/>
              </a:defRPr>
            </a:pPr>
            <a:r>
              <a:t>Research / facts / market &amp; industry study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10896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1">
                <a:solidFill>
                  <a:srgbClr val="63717C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207008"/>
            <a:ext cx="777240" cy="50292"/>
          </a:xfrm>
          <a:prstGeom prst="rect">
            <a:avLst/>
          </a:prstGeom>
          <a:solidFill>
            <a:srgbClr val="1791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371600"/>
            <a:ext cx="10424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D2237"/>
                </a:solidFill>
                <a:latin typeface="Aptos"/>
              </a:defRPr>
            </a:pPr>
            <a:r>
              <a:t>CivicPulse is designed around the full service journey, not a report form alone.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057400"/>
            <a:ext cx="51663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5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85800" y="2057400"/>
            <a:ext cx="64008" cy="1417320"/>
          </a:xfrm>
          <a:prstGeom prst="rect">
            <a:avLst/>
          </a:prstGeom>
          <a:solidFill>
            <a:srgbClr val="1791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221992"/>
            <a:ext cx="4709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2237"/>
                </a:solidFill>
                <a:latin typeface="Aptos"/>
              </a:defRPr>
            </a:pPr>
            <a:r>
              <a:t>Citizen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624328"/>
            <a:ext cx="4709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22D37"/>
                </a:solidFill>
                <a:latin typeface="Aptos"/>
              </a:defRPr>
            </a:pPr>
            <a:r>
              <a:t>Fast reporting • GPS/photo • status visibility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49240" y="2221992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17917E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2057400"/>
            <a:ext cx="51663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5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72200" y="2057400"/>
            <a:ext cx="64008" cy="1417320"/>
          </a:xfrm>
          <a:prstGeom prst="rect">
            <a:avLst/>
          </a:prstGeom>
          <a:solidFill>
            <a:srgbClr val="F49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0" y="2221992"/>
            <a:ext cx="4709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2237"/>
                </a:solidFill>
                <a:latin typeface="Aptos"/>
              </a:defRPr>
            </a:pPr>
            <a:r>
              <a:t>Field worker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624328"/>
            <a:ext cx="4709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22D37"/>
                </a:solidFill>
                <a:latin typeface="Aptos"/>
              </a:defRPr>
            </a:pPr>
            <a:r>
              <a:t>Clear work order • exact location •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35640" y="2221992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F49642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794760"/>
            <a:ext cx="51663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5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85800" y="3794760"/>
            <a:ext cx="64008" cy="1417320"/>
          </a:xfrm>
          <a:prstGeom prst="rect">
            <a:avLst/>
          </a:prstGeom>
          <a:solidFill>
            <a:srgbClr val="0D2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3959352"/>
            <a:ext cx="4709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2237"/>
                </a:solidFill>
                <a:latin typeface="Aptos"/>
              </a:defRPr>
            </a:pPr>
            <a:r>
              <a:t>Supervisor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361688"/>
            <a:ext cx="4709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22D37"/>
                </a:solidFill>
                <a:latin typeface="Aptos"/>
              </a:defRPr>
            </a:pPr>
            <a:r>
              <a:t>Queue • SLA risk • hotspots • audit trail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49240" y="3959352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0D2237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3794760"/>
            <a:ext cx="51663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5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172200" y="3794760"/>
            <a:ext cx="64008" cy="1417320"/>
          </a:xfrm>
          <a:prstGeom prst="rect">
            <a:avLst/>
          </a:prstGeom>
          <a:solidFill>
            <a:srgbClr val="DC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0" y="3959352"/>
            <a:ext cx="4709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2237"/>
                </a:solidFill>
                <a:latin typeface="Aptos"/>
              </a:defRPr>
            </a:pPr>
            <a:r>
              <a:t>Pilot measures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4361688"/>
            <a:ext cx="4709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22D37"/>
                </a:solidFill>
                <a:latin typeface="Aptos"/>
              </a:defRPr>
            </a:pPr>
            <a:r>
              <a:t>Assignment time • SLA • duplicate rate • verified closure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35640" y="3959352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DC5252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5623560"/>
            <a:ext cx="10561320" cy="502920"/>
          </a:xfrm>
          <a:prstGeom prst="roundRect">
            <a:avLst/>
          </a:prstGeom>
          <a:solidFill>
            <a:srgbClr val="E0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68680" y="5742432"/>
            <a:ext cx="10195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0D2237"/>
                </a:solidFill>
                <a:latin typeface="Aptos"/>
              </a:defRPr>
            </a:pPr>
            <a:r>
              <a:t>Prototype/pilot measures are proposed; the current deck does not claim real-world quantitative results.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6510528"/>
            <a:ext cx="6858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63717C"/>
                </a:solidFill>
                <a:latin typeface="Aptos"/>
              </a:defRPr>
            </a:pPr>
            <a:r>
              <a:t>CIVICPULSE  •  DTIE  •  GROUP 3  •  KLH BACHUPALLY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58200" y="6510528"/>
            <a:ext cx="3108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63717C"/>
                </a:solidFill>
                <a:latin typeface="Aptos"/>
              </a:defRPr>
            </a:pPr>
            <a:r>
              <a:t>CLEAN &amp; GREEN TECHNOLOGY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94360" y="292608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7917E"/>
                </a:solidFill>
                <a:latin typeface="Aptos"/>
              </a:defRPr>
            </a:pPr>
            <a:r>
              <a:t>04 • CUSTOMER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76072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0D2237"/>
                </a:solidFill>
                <a:latin typeface="Aptos"/>
              </a:defRPr>
            </a:pPr>
            <a:r>
              <a:t>Target users — three perspectives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10896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1">
                <a:solidFill>
                  <a:srgbClr val="63717C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207008"/>
            <a:ext cx="777240" cy="50292"/>
          </a:xfrm>
          <a:prstGeom prst="rect">
            <a:avLst/>
          </a:prstGeom>
          <a:solidFill>
            <a:srgbClr val="1791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85800" y="1645920"/>
            <a:ext cx="324612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D5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68680" y="1901952"/>
            <a:ext cx="658368" cy="658368"/>
          </a:xfrm>
          <a:prstGeom prst="roundRect">
            <a:avLst/>
          </a:prstGeom>
          <a:solidFill>
            <a:srgbClr val="1791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645920" y="1920240"/>
            <a:ext cx="1920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2237"/>
                </a:solidFill>
                <a:latin typeface="Aptos"/>
              </a:defRPr>
            </a:pPr>
            <a:r>
              <a:t>CITIZEN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743200"/>
            <a:ext cx="2788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222D37"/>
                </a:solidFill>
                <a:latin typeface="Aptos"/>
              </a:defRPr>
            </a:pPr>
            <a:r>
              <a:t>“I reported it. What happened next?”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840480"/>
            <a:ext cx="2788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63717C"/>
                </a:solidFill>
                <a:latin typeface="Aptos"/>
              </a:defRPr>
            </a:pPr>
            <a:r>
              <a:t>Report • track • verify / reopen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645920"/>
            <a:ext cx="324612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D5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572000" y="1901952"/>
            <a:ext cx="658368" cy="658368"/>
          </a:xfrm>
          <a:prstGeom prst="roundRect">
            <a:avLst/>
          </a:prstGeom>
          <a:solidFill>
            <a:srgbClr val="F49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349240" y="1920240"/>
            <a:ext cx="1920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2237"/>
                </a:solidFill>
                <a:latin typeface="Aptos"/>
              </a:defRPr>
            </a:pPr>
            <a:r>
              <a:t>FIELD WORKER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743200"/>
            <a:ext cx="2788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222D37"/>
                </a:solidFill>
                <a:latin typeface="Aptos"/>
              </a:defRPr>
            </a:pPr>
            <a:r>
              <a:t>“Give me the right job with the right context.”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3840480"/>
            <a:ext cx="2788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63717C"/>
                </a:solidFill>
                <a:latin typeface="Aptos"/>
              </a:defRPr>
            </a:pPr>
            <a:r>
              <a:t>Work order • location • evidence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1645920"/>
            <a:ext cx="324612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D5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275319" y="1901952"/>
            <a:ext cx="658368" cy="658368"/>
          </a:xfrm>
          <a:prstGeom prst="roundRect">
            <a:avLst/>
          </a:prstGeom>
          <a:solidFill>
            <a:srgbClr val="0D2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052560" y="1920240"/>
            <a:ext cx="1920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2237"/>
                </a:solidFill>
                <a:latin typeface="Aptos"/>
              </a:defRPr>
            </a:pPr>
            <a:r>
              <a:t>MUNICIPAL SUPERVISOR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743200"/>
            <a:ext cx="2788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222D37"/>
                </a:solidFill>
                <a:latin typeface="Aptos"/>
              </a:defRPr>
            </a:pPr>
            <a:r>
              <a:t>“Show me what needs attention first.”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3840480"/>
            <a:ext cx="2788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63717C"/>
                </a:solidFill>
                <a:latin typeface="Aptos"/>
              </a:defRPr>
            </a:pPr>
            <a:r>
              <a:t>Queue • SLA • hotspots • audit trail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510528"/>
            <a:ext cx="6858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63717C"/>
                </a:solidFill>
                <a:latin typeface="Aptos"/>
              </a:defRPr>
            </a:pPr>
            <a:r>
              <a:t>CIVICPULSE  •  DTIE  •  GROUP 3  •  KLH BACHUPALLY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58200" y="6510528"/>
            <a:ext cx="3108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63717C"/>
                </a:solidFill>
                <a:latin typeface="Aptos"/>
              </a:defRPr>
            </a:pPr>
            <a:r>
              <a:t>CLEAN &amp; GREEN TECHNOLOGY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4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292608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7917E"/>
                </a:solidFill>
                <a:latin typeface="Aptos"/>
              </a:defRPr>
            </a:pPr>
            <a:r>
              <a:t>05 • BENCHMARK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76072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0D2237"/>
                </a:solidFill>
                <a:latin typeface="Aptos"/>
              </a:defRPr>
            </a:pPr>
            <a:r>
              <a:t>Competitors / benchmarks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10896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1">
                <a:solidFill>
                  <a:srgbClr val="63717C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207008"/>
            <a:ext cx="777240" cy="50292"/>
          </a:xfrm>
          <a:prstGeom prst="rect">
            <a:avLst/>
          </a:prstGeom>
          <a:solidFill>
            <a:srgbClr val="1791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3716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D2237"/>
                </a:solidFill>
                <a:latin typeface="Aptos"/>
              </a:defRPr>
            </a:pPr>
            <a:r>
              <a:t>Compare the workflow capabilities CivicPulse is designed to connect.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965960"/>
            <a:ext cx="2057400" cy="566928"/>
          </a:xfrm>
          <a:prstGeom prst="roundRect">
            <a:avLst/>
          </a:prstGeom>
          <a:solidFill>
            <a:srgbClr val="0D2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1792" y="2139696"/>
            <a:ext cx="200253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CAPABILITY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97480" y="1965960"/>
            <a:ext cx="1554480" cy="566928"/>
          </a:xfrm>
          <a:prstGeom prst="roundRect">
            <a:avLst/>
          </a:prstGeom>
          <a:solidFill>
            <a:srgbClr val="0D2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724912" y="2139696"/>
            <a:ext cx="149961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REPORT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965960"/>
            <a:ext cx="1463040" cy="566928"/>
          </a:xfrm>
          <a:prstGeom prst="roundRect">
            <a:avLst/>
          </a:prstGeom>
          <a:solidFill>
            <a:srgbClr val="0D2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70832" y="2139696"/>
            <a:ext cx="140817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ROUTING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97880" y="1965960"/>
            <a:ext cx="1463040" cy="566928"/>
          </a:xfrm>
          <a:prstGeom prst="roundRect">
            <a:avLst/>
          </a:prstGeom>
          <a:solidFill>
            <a:srgbClr val="0D2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25312" y="2139696"/>
            <a:ext cx="140817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SLA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52360" y="1965960"/>
            <a:ext cx="1554480" cy="566928"/>
          </a:xfrm>
          <a:prstGeom prst="roundRect">
            <a:avLst/>
          </a:prstGeom>
          <a:solidFill>
            <a:srgbClr val="0D2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79792" y="2139696"/>
            <a:ext cx="149961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PROOF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98280" y="1965960"/>
            <a:ext cx="2468880" cy="566928"/>
          </a:xfrm>
          <a:prstGeom prst="roundRect">
            <a:avLst/>
          </a:prstGeom>
          <a:solidFill>
            <a:srgbClr val="0D2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25711" y="2139696"/>
            <a:ext cx="241401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VERIFY / REOPEN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2633472"/>
            <a:ext cx="2057400" cy="621792"/>
          </a:xfrm>
          <a:prstGeom prst="roundRect">
            <a:avLst/>
          </a:prstGeom>
          <a:solidFill>
            <a:srgbClr val="F6F9FA"/>
          </a:solidFill>
          <a:ln>
            <a:solidFill>
              <a:srgbClr val="D5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1792" y="2816352"/>
            <a:ext cx="200253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0D2237"/>
                </a:solidFill>
                <a:latin typeface="Aptos"/>
              </a:defRPr>
            </a:pPr>
            <a:r>
              <a:t>Typical reporting flow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97480" y="2633472"/>
            <a:ext cx="1554480" cy="621792"/>
          </a:xfrm>
          <a:prstGeom prst="roundRect">
            <a:avLst/>
          </a:prstGeom>
          <a:solidFill>
            <a:srgbClr val="F6F9FA"/>
          </a:solidFill>
          <a:ln>
            <a:solidFill>
              <a:srgbClr val="D5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724912" y="2816352"/>
            <a:ext cx="149961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17917E"/>
                </a:solidFill>
                <a:latin typeface="Aptos"/>
              </a:defRPr>
            </a:pPr>
            <a:r>
              <a:t>●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3400" y="2633472"/>
            <a:ext cx="1463040" cy="621792"/>
          </a:xfrm>
          <a:prstGeom prst="roundRect">
            <a:avLst/>
          </a:prstGeom>
          <a:solidFill>
            <a:srgbClr val="F6F9FA"/>
          </a:solidFill>
          <a:ln>
            <a:solidFill>
              <a:srgbClr val="D5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370832" y="2816352"/>
            <a:ext cx="140817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17917E"/>
                </a:solidFill>
                <a:latin typeface="Aptos"/>
              </a:defRPr>
            </a:pPr>
            <a:r>
              <a:t>—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897880" y="2633472"/>
            <a:ext cx="1463040" cy="621792"/>
          </a:xfrm>
          <a:prstGeom prst="roundRect">
            <a:avLst/>
          </a:prstGeom>
          <a:solidFill>
            <a:srgbClr val="F6F9FA"/>
          </a:solidFill>
          <a:ln>
            <a:solidFill>
              <a:srgbClr val="D5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925312" y="2816352"/>
            <a:ext cx="140817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17917E"/>
                </a:solidFill>
                <a:latin typeface="Aptos"/>
              </a:defRPr>
            </a:pPr>
            <a:r>
              <a:t>—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52360" y="2633472"/>
            <a:ext cx="1554480" cy="621792"/>
          </a:xfrm>
          <a:prstGeom prst="roundRect">
            <a:avLst/>
          </a:prstGeom>
          <a:solidFill>
            <a:srgbClr val="F6F9FA"/>
          </a:solidFill>
          <a:ln>
            <a:solidFill>
              <a:srgbClr val="D5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479792" y="2816352"/>
            <a:ext cx="149961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17917E"/>
                </a:solidFill>
                <a:latin typeface="Aptos"/>
              </a:defRPr>
            </a:pPr>
            <a:r>
              <a:t>—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098280" y="2633472"/>
            <a:ext cx="2468880" cy="621792"/>
          </a:xfrm>
          <a:prstGeom prst="roundRect">
            <a:avLst/>
          </a:prstGeom>
          <a:solidFill>
            <a:srgbClr val="F6F9FA"/>
          </a:solidFill>
          <a:ln>
            <a:solidFill>
              <a:srgbClr val="D5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125711" y="2816352"/>
            <a:ext cx="241401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17917E"/>
                </a:solidFill>
                <a:latin typeface="Aptos"/>
              </a:defRPr>
            </a:pPr>
            <a:r>
              <a:t>—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4360" y="3383279"/>
            <a:ext cx="2057400" cy="621792"/>
          </a:xfrm>
          <a:prstGeom prst="roundRect">
            <a:avLst/>
          </a:prstGeom>
          <a:solidFill>
            <a:srgbClr val="F6F9FA"/>
          </a:solidFill>
          <a:ln>
            <a:solidFill>
              <a:srgbClr val="D5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21792" y="3566160"/>
            <a:ext cx="200253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0D2237"/>
                </a:solidFill>
                <a:latin typeface="Aptos"/>
              </a:defRPr>
            </a:pPr>
            <a:r>
              <a:t>Workflow-oriented platform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697480" y="3383279"/>
            <a:ext cx="1554480" cy="621792"/>
          </a:xfrm>
          <a:prstGeom prst="roundRect">
            <a:avLst/>
          </a:prstGeom>
          <a:solidFill>
            <a:srgbClr val="F6F9FA"/>
          </a:solidFill>
          <a:ln>
            <a:solidFill>
              <a:srgbClr val="D5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724912" y="3566160"/>
            <a:ext cx="149961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17917E"/>
                </a:solidFill>
                <a:latin typeface="Aptos"/>
              </a:defRPr>
            </a:pPr>
            <a:r>
              <a:t>●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343400" y="3383279"/>
            <a:ext cx="1463040" cy="621792"/>
          </a:xfrm>
          <a:prstGeom prst="roundRect">
            <a:avLst/>
          </a:prstGeom>
          <a:solidFill>
            <a:srgbClr val="F6F9FA"/>
          </a:solidFill>
          <a:ln>
            <a:solidFill>
              <a:srgbClr val="D5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370832" y="3566160"/>
            <a:ext cx="140817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17917E"/>
                </a:solidFill>
                <a:latin typeface="Aptos"/>
              </a:defRPr>
            </a:pPr>
            <a:r>
              <a:t>●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897880" y="3383279"/>
            <a:ext cx="1463040" cy="621792"/>
          </a:xfrm>
          <a:prstGeom prst="roundRect">
            <a:avLst/>
          </a:prstGeom>
          <a:solidFill>
            <a:srgbClr val="F6F9FA"/>
          </a:solidFill>
          <a:ln>
            <a:solidFill>
              <a:srgbClr val="D5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925312" y="3566160"/>
            <a:ext cx="140817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17917E"/>
                </a:solidFill>
                <a:latin typeface="Aptos"/>
              </a:defRPr>
            </a:pPr>
            <a:r>
              <a:t>●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452360" y="3383279"/>
            <a:ext cx="1554480" cy="621792"/>
          </a:xfrm>
          <a:prstGeom prst="roundRect">
            <a:avLst/>
          </a:prstGeom>
          <a:solidFill>
            <a:srgbClr val="F6F9FA"/>
          </a:solidFill>
          <a:ln>
            <a:solidFill>
              <a:srgbClr val="D5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479792" y="3566160"/>
            <a:ext cx="149961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17917E"/>
                </a:solidFill>
                <a:latin typeface="Aptos"/>
              </a:defRPr>
            </a:pPr>
            <a:r>
              <a:t>△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098280" y="3383279"/>
            <a:ext cx="2468880" cy="621792"/>
          </a:xfrm>
          <a:prstGeom prst="roundRect">
            <a:avLst/>
          </a:prstGeom>
          <a:solidFill>
            <a:srgbClr val="F6F9FA"/>
          </a:solidFill>
          <a:ln>
            <a:solidFill>
              <a:srgbClr val="D5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125711" y="3566160"/>
            <a:ext cx="241401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17917E"/>
                </a:solidFill>
                <a:latin typeface="Aptos"/>
              </a:defRPr>
            </a:pPr>
            <a:r>
              <a:t>△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94360" y="4133087"/>
            <a:ext cx="2057400" cy="621792"/>
          </a:xfrm>
          <a:prstGeom prst="roundRect">
            <a:avLst/>
          </a:prstGeom>
          <a:solidFill>
            <a:srgbClr val="E0F6EF"/>
          </a:solidFill>
          <a:ln>
            <a:solidFill>
              <a:srgbClr val="D5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21792" y="4315968"/>
            <a:ext cx="200253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0D2237"/>
                </a:solidFill>
                <a:latin typeface="Aptos"/>
              </a:defRPr>
            </a:pPr>
            <a:r>
              <a:t>CivicPulse concept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697480" y="4133087"/>
            <a:ext cx="1554480" cy="621792"/>
          </a:xfrm>
          <a:prstGeom prst="roundRect">
            <a:avLst/>
          </a:prstGeom>
          <a:solidFill>
            <a:srgbClr val="E0F6EF"/>
          </a:solidFill>
          <a:ln>
            <a:solidFill>
              <a:srgbClr val="D5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724912" y="4315968"/>
            <a:ext cx="149961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17917E"/>
                </a:solidFill>
                <a:latin typeface="Aptos"/>
              </a:defRPr>
            </a:pPr>
            <a:r>
              <a:t>●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343400" y="4133087"/>
            <a:ext cx="1463040" cy="621792"/>
          </a:xfrm>
          <a:prstGeom prst="roundRect">
            <a:avLst/>
          </a:prstGeom>
          <a:solidFill>
            <a:srgbClr val="E0F6EF"/>
          </a:solidFill>
          <a:ln>
            <a:solidFill>
              <a:srgbClr val="D5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370832" y="4315968"/>
            <a:ext cx="140817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17917E"/>
                </a:solidFill>
                <a:latin typeface="Aptos"/>
              </a:defRPr>
            </a:pPr>
            <a:r>
              <a:t>●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897880" y="4133087"/>
            <a:ext cx="1463040" cy="621792"/>
          </a:xfrm>
          <a:prstGeom prst="roundRect">
            <a:avLst/>
          </a:prstGeom>
          <a:solidFill>
            <a:srgbClr val="E0F6EF"/>
          </a:solidFill>
          <a:ln>
            <a:solidFill>
              <a:srgbClr val="D5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925312" y="4315968"/>
            <a:ext cx="140817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17917E"/>
                </a:solidFill>
                <a:latin typeface="Aptos"/>
              </a:defRPr>
            </a:pPr>
            <a:r>
              <a:t>●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452360" y="4133087"/>
            <a:ext cx="1554480" cy="621792"/>
          </a:xfrm>
          <a:prstGeom prst="roundRect">
            <a:avLst/>
          </a:prstGeom>
          <a:solidFill>
            <a:srgbClr val="E0F6EF"/>
          </a:solidFill>
          <a:ln>
            <a:solidFill>
              <a:srgbClr val="D5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479792" y="4315968"/>
            <a:ext cx="149961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17917E"/>
                </a:solidFill>
                <a:latin typeface="Aptos"/>
              </a:defRPr>
            </a:pPr>
            <a:r>
              <a:t>●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098280" y="4133087"/>
            <a:ext cx="2468880" cy="621792"/>
          </a:xfrm>
          <a:prstGeom prst="roundRect">
            <a:avLst/>
          </a:prstGeom>
          <a:solidFill>
            <a:srgbClr val="E0F6EF"/>
          </a:solidFill>
          <a:ln>
            <a:solidFill>
              <a:srgbClr val="D5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125711" y="4315968"/>
            <a:ext cx="241401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17917E"/>
                </a:solidFill>
                <a:latin typeface="Aptos"/>
              </a:defRPr>
            </a:pPr>
            <a:r>
              <a:t>●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31520" y="5166360"/>
            <a:ext cx="10332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63717C"/>
                </a:solidFill>
                <a:latin typeface="Aptos"/>
              </a:defRPr>
            </a:pPr>
            <a:r>
              <a:t>Capability benchmark — not a claim about named commercial products.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94360" y="6510528"/>
            <a:ext cx="6858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63717C"/>
                </a:solidFill>
                <a:latin typeface="Aptos"/>
              </a:defRPr>
            </a:pPr>
            <a:r>
              <a:t>CIVICPULSE  •  DTIE  •  GROUP 3  •  KLH BACHUPALLY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458200" y="6510528"/>
            <a:ext cx="3108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63717C"/>
                </a:solidFill>
                <a:latin typeface="Aptos"/>
              </a:defRPr>
            </a:pPr>
            <a:r>
              <a:t>CLEAN &amp; GREEN TECHNOLOGY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94360" y="292608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7917E"/>
                </a:solidFill>
                <a:latin typeface="Aptos"/>
              </a:defRPr>
            </a:pPr>
            <a:r>
              <a:t>06 • 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76072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0D2237"/>
                </a:solidFill>
                <a:latin typeface="Aptos"/>
              </a:defRPr>
            </a:pPr>
            <a:r>
              <a:t>Risks &amp; gaps to validate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10896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1">
                <a:solidFill>
                  <a:srgbClr val="63717C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207008"/>
            <a:ext cx="777240" cy="50292"/>
          </a:xfrm>
          <a:prstGeom prst="rect">
            <a:avLst/>
          </a:prstGeom>
          <a:solidFill>
            <a:srgbClr val="1791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85800" y="1554480"/>
            <a:ext cx="516636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5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554480"/>
            <a:ext cx="64008" cy="1691640"/>
          </a:xfrm>
          <a:prstGeom prst="rect">
            <a:avLst/>
          </a:prstGeom>
          <a:solidFill>
            <a:srgbClr val="DC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719072"/>
            <a:ext cx="4709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2237"/>
                </a:solidFill>
                <a:latin typeface="Aptos"/>
              </a:defRPr>
            </a:pPr>
            <a:r>
              <a:t>AI accuracy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21408"/>
            <a:ext cx="47091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22D37"/>
                </a:solidFill>
                <a:latin typeface="Aptos"/>
              </a:defRPr>
            </a:pPr>
            <a:r>
              <a:t>Wrong category/severity suggestion</a:t>
            </a:r>
            <a:br/>
            <a:br/>
            <a:r>
              <a:t>Mitigation: Human review remains important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554480"/>
            <a:ext cx="516636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5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72200" y="1554480"/>
            <a:ext cx="64008" cy="1691640"/>
          </a:xfrm>
          <a:prstGeom prst="rect">
            <a:avLst/>
          </a:prstGeom>
          <a:solidFill>
            <a:srgbClr val="F49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0" y="1719072"/>
            <a:ext cx="4709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2237"/>
                </a:solidFill>
                <a:latin typeface="Aptos"/>
              </a:defRPr>
            </a:pPr>
            <a:r>
              <a:t>Privacy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121408"/>
            <a:ext cx="47091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22D37"/>
                </a:solidFill>
                <a:latin typeface="Aptos"/>
              </a:defRPr>
            </a:pPr>
            <a:r>
              <a:t>Location + evidence may be sensitive</a:t>
            </a:r>
            <a:br/>
            <a:br/>
            <a:r>
              <a:t>Mitigation: Privacy-by-design + role-based access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611880"/>
            <a:ext cx="516636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5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85800" y="3611880"/>
            <a:ext cx="64008" cy="1691640"/>
          </a:xfrm>
          <a:prstGeom prst="rect">
            <a:avLst/>
          </a:prstGeom>
          <a:solidFill>
            <a:srgbClr val="1791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3776472"/>
            <a:ext cx="4709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2237"/>
                </a:solidFill>
                <a:latin typeface="Aptos"/>
              </a:defRPr>
            </a:pPr>
            <a:r>
              <a:t>Duplicate detection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178808"/>
            <a:ext cx="47091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22D37"/>
                </a:solidFill>
                <a:latin typeface="Aptos"/>
              </a:defRPr>
            </a:pPr>
            <a:r>
              <a:t>False match / missed duplicate</a:t>
            </a:r>
            <a:br/>
            <a:br/>
            <a:r>
              <a:t>Mitigation: Pilot validation + similarity tuning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611880"/>
            <a:ext cx="516636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5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172200" y="3611880"/>
            <a:ext cx="64008" cy="1691640"/>
          </a:xfrm>
          <a:prstGeom prst="rect">
            <a:avLst/>
          </a:prstGeom>
          <a:solidFill>
            <a:srgbClr val="0D2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0" y="3776472"/>
            <a:ext cx="4709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2237"/>
                </a:solidFill>
                <a:latin typeface="Aptos"/>
              </a:defRPr>
            </a:pPr>
            <a:r>
              <a:t>Deployment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178808"/>
            <a:ext cx="47091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22D37"/>
                </a:solidFill>
                <a:latin typeface="Aptos"/>
              </a:defRPr>
            </a:pPr>
            <a:r>
              <a:t>Municipal integrations are complex</a:t>
            </a:r>
            <a:br/>
            <a:br/>
            <a:r>
              <a:t>Mitigation: Start with academic-scale pilot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510528"/>
            <a:ext cx="6858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63717C"/>
                </a:solidFill>
                <a:latin typeface="Aptos"/>
              </a:defRPr>
            </a:pPr>
            <a:r>
              <a:t>CIVICPULSE  •  DTIE  •  GROUP 3  •  KLH BACHUPALLY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58200" y="6510528"/>
            <a:ext cx="3108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63717C"/>
                </a:solidFill>
                <a:latin typeface="Aptos"/>
              </a:defRPr>
            </a:pPr>
            <a:r>
              <a:t>CLEAN &amp; GREEN TECHNOLOGY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94360" y="292608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7917E"/>
                </a:solidFill>
                <a:latin typeface="Aptos"/>
              </a:defRPr>
            </a:pPr>
            <a:r>
              <a:t>07 •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76072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0D2237"/>
                </a:solidFill>
                <a:latin typeface="Aptos"/>
              </a:defRPr>
            </a:pPr>
            <a:r>
              <a:t>The Civic Loop — one ticket, one lifecycle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10896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1">
                <a:solidFill>
                  <a:srgbClr val="63717C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207008"/>
            <a:ext cx="777240" cy="50292"/>
          </a:xfrm>
          <a:prstGeom prst="rect">
            <a:avLst/>
          </a:prstGeom>
          <a:solidFill>
            <a:srgbClr val="1791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84048" y="2331720"/>
            <a:ext cx="1600200" cy="1371600"/>
          </a:xfrm>
          <a:prstGeom prst="roundRect">
            <a:avLst/>
          </a:prstGeom>
          <a:solidFill>
            <a:srgbClr val="1791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2542032"/>
            <a:ext cx="1600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REPORT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2926080"/>
            <a:ext cx="14173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0">
                <a:solidFill>
                  <a:srgbClr val="FFFFFF"/>
                </a:solidFill>
                <a:latin typeface="Aptos"/>
              </a:defRPr>
            </a:pPr>
            <a:r>
              <a:t>Photo / text / voice</a:t>
            </a:r>
            <a:br/>
            <a:r>
              <a:t>GPS + timestamp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984248" y="3017520"/>
            <a:ext cx="301752" cy="0"/>
          </a:xfrm>
          <a:prstGeom prst="line">
            <a:avLst/>
          </a:prstGeom>
          <a:ln w="22860">
            <a:solidFill>
              <a:srgbClr val="6371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322576" y="2331720"/>
            <a:ext cx="1600200" cy="1371600"/>
          </a:xfrm>
          <a:prstGeom prst="roundRect">
            <a:avLst/>
          </a:prstGeom>
          <a:solidFill>
            <a:srgbClr val="0D2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322576" y="2542032"/>
            <a:ext cx="1600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TRIAGE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14016" y="2926080"/>
            <a:ext cx="14173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0">
                <a:solidFill>
                  <a:srgbClr val="FFFFFF"/>
                </a:solidFill>
                <a:latin typeface="Aptos"/>
              </a:defRPr>
            </a:pPr>
            <a:r>
              <a:t>Category + severity</a:t>
            </a:r>
            <a:br/>
            <a:r>
              <a:t>Duplicate check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922776" y="3017520"/>
            <a:ext cx="301752" cy="0"/>
          </a:xfrm>
          <a:prstGeom prst="line">
            <a:avLst/>
          </a:prstGeom>
          <a:ln w="22860">
            <a:solidFill>
              <a:srgbClr val="6371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261104" y="2331720"/>
            <a:ext cx="1600200" cy="1371600"/>
          </a:xfrm>
          <a:prstGeom prst="roundRect">
            <a:avLst/>
          </a:prstGeom>
          <a:solidFill>
            <a:srgbClr val="F49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261104" y="2542032"/>
            <a:ext cx="1600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ASSIGN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52544" y="2926080"/>
            <a:ext cx="14173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0">
                <a:solidFill>
                  <a:srgbClr val="FFFFFF"/>
                </a:solidFill>
                <a:latin typeface="Aptos"/>
              </a:defRPr>
            </a:pPr>
            <a:r>
              <a:t>Ward + department</a:t>
            </a:r>
            <a:br/>
            <a:r>
              <a:t>Owner + SLA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61304" y="3017520"/>
            <a:ext cx="301752" cy="0"/>
          </a:xfrm>
          <a:prstGeom prst="line">
            <a:avLst/>
          </a:prstGeom>
          <a:ln w="22860">
            <a:solidFill>
              <a:srgbClr val="6371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199632" y="2331720"/>
            <a:ext cx="1600200" cy="1371600"/>
          </a:xfrm>
          <a:prstGeom prst="roundRect">
            <a:avLst/>
          </a:prstGeom>
          <a:solidFill>
            <a:srgbClr val="1791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199632" y="2542032"/>
            <a:ext cx="1600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91072" y="2926080"/>
            <a:ext cx="14173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0">
                <a:solidFill>
                  <a:srgbClr val="FFFFFF"/>
                </a:solidFill>
                <a:latin typeface="Aptos"/>
              </a:defRPr>
            </a:pPr>
            <a:r>
              <a:t>Field work order</a:t>
            </a:r>
            <a:br/>
            <a:r>
              <a:t>Live status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799832" y="3017520"/>
            <a:ext cx="301751" cy="0"/>
          </a:xfrm>
          <a:prstGeom prst="line">
            <a:avLst/>
          </a:prstGeom>
          <a:ln w="22860">
            <a:solidFill>
              <a:srgbClr val="6371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138160" y="2331720"/>
            <a:ext cx="1600200" cy="1371600"/>
          </a:xfrm>
          <a:prstGeom prst="roundRect">
            <a:avLst/>
          </a:prstGeom>
          <a:solidFill>
            <a:srgbClr val="0D2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138160" y="2542032"/>
            <a:ext cx="1600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PROVE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2926080"/>
            <a:ext cx="14173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0">
                <a:solidFill>
                  <a:srgbClr val="FFFFFF"/>
                </a:solidFill>
                <a:latin typeface="Aptos"/>
              </a:defRPr>
            </a:pPr>
            <a:r>
              <a:t>After-photo</a:t>
            </a:r>
            <a:br/>
            <a:r>
              <a:t>Audit trail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738360" y="3017520"/>
            <a:ext cx="301752" cy="0"/>
          </a:xfrm>
          <a:prstGeom prst="line">
            <a:avLst/>
          </a:prstGeom>
          <a:ln w="22860">
            <a:solidFill>
              <a:srgbClr val="6371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10076688" y="2331720"/>
            <a:ext cx="1600200" cy="1371600"/>
          </a:xfrm>
          <a:prstGeom prst="roundRect">
            <a:avLst/>
          </a:prstGeom>
          <a:solidFill>
            <a:srgbClr val="F49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076688" y="2542032"/>
            <a:ext cx="1600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VERIFY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68128" y="2926080"/>
            <a:ext cx="14173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0">
                <a:solidFill>
                  <a:srgbClr val="FFFFFF"/>
                </a:solidFill>
                <a:latin typeface="Aptos"/>
              </a:defRPr>
            </a:pPr>
            <a:r>
              <a:t>Citizen confirms</a:t>
            </a:r>
            <a:br/>
            <a:r>
              <a:t>or reopens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4663440"/>
            <a:ext cx="100584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0D2237"/>
                </a:solidFill>
                <a:latin typeface="Aptos"/>
              </a:defRPr>
            </a:pPr>
            <a:r>
              <a:t>A report does not disappear after submission — it stays traceable through resolution and verification.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6510528"/>
            <a:ext cx="6858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63717C"/>
                </a:solidFill>
                <a:latin typeface="Aptos"/>
              </a:defRPr>
            </a:pPr>
            <a:r>
              <a:t>CIVICPULSE  •  DTIE  •  GROUP 3  •  KLH BACHUPALLY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58200" y="6510528"/>
            <a:ext cx="3108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63717C"/>
                </a:solidFill>
                <a:latin typeface="Aptos"/>
              </a:defRPr>
            </a:pPr>
            <a:r>
              <a:t>CLEAN &amp; GREEN TECHNOLOGY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94360" y="292608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7917E"/>
                </a:solidFill>
                <a:latin typeface="Aptos"/>
              </a:defRPr>
            </a:pPr>
            <a:r>
              <a:t>08 • STORYBOARD +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76072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0D2237"/>
                </a:solidFill>
                <a:latin typeface="Aptos"/>
              </a:defRPr>
            </a:pPr>
            <a:r>
              <a:t>One pothole, end to 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10896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1">
                <a:solidFill>
                  <a:srgbClr val="63717C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207008"/>
            <a:ext cx="777240" cy="50292"/>
          </a:xfrm>
          <a:prstGeom prst="rect">
            <a:avLst/>
          </a:prstGeom>
          <a:solidFill>
            <a:srgbClr val="1791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1463040"/>
            <a:ext cx="1627632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5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69848" y="1627632"/>
            <a:ext cx="502920" cy="365760"/>
          </a:xfrm>
          <a:prstGeom prst="roundRect">
            <a:avLst/>
          </a:prstGeom>
          <a:solidFill>
            <a:srgbClr val="1791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69848" y="1719072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148840"/>
            <a:ext cx="144475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0D2237"/>
                </a:solidFill>
                <a:latin typeface="Aptos"/>
              </a:defRPr>
            </a:pPr>
            <a:r>
              <a:t>REPORT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468880"/>
            <a:ext cx="14447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0">
                <a:solidFill>
                  <a:srgbClr val="63717C"/>
                </a:solidFill>
                <a:latin typeface="Aptos"/>
              </a:defRPr>
            </a:pPr>
            <a:r>
              <a:t>Photo + GPS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04872" y="1463040"/>
            <a:ext cx="1627632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5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2971800" y="1627632"/>
            <a:ext cx="502920" cy="365760"/>
          </a:xfrm>
          <a:prstGeom prst="roundRect">
            <a:avLst/>
          </a:prstGeom>
          <a:solidFill>
            <a:srgbClr val="1791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971800" y="1719072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96312" y="2148840"/>
            <a:ext cx="144475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0D2237"/>
                </a:solidFill>
                <a:latin typeface="Aptos"/>
              </a:defRPr>
            </a:pPr>
            <a:r>
              <a:t>TRIAGE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96312" y="2468880"/>
            <a:ext cx="14447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0">
                <a:solidFill>
                  <a:srgbClr val="63717C"/>
                </a:solidFill>
                <a:latin typeface="Aptos"/>
              </a:defRPr>
            </a:pPr>
            <a:r>
              <a:t>Category / severity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06824" y="1463040"/>
            <a:ext cx="1627632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5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873752" y="1627632"/>
            <a:ext cx="502920" cy="365760"/>
          </a:xfrm>
          <a:prstGeom prst="roundRect">
            <a:avLst/>
          </a:prstGeom>
          <a:solidFill>
            <a:srgbClr val="1791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873752" y="1719072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98264" y="2148840"/>
            <a:ext cx="144475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0D2237"/>
                </a:solidFill>
                <a:latin typeface="Aptos"/>
              </a:defRPr>
            </a:pPr>
            <a:r>
              <a:t>ASSIGN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98264" y="2468880"/>
            <a:ext cx="14447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0">
                <a:solidFill>
                  <a:srgbClr val="63717C"/>
                </a:solidFill>
                <a:latin typeface="Aptos"/>
              </a:defRPr>
            </a:pPr>
            <a:r>
              <a:t>Ward + owner + SLA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08776" y="1463040"/>
            <a:ext cx="1627632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5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775704" y="1627632"/>
            <a:ext cx="502920" cy="365760"/>
          </a:xfrm>
          <a:prstGeom prst="roundRect">
            <a:avLst/>
          </a:prstGeom>
          <a:solidFill>
            <a:srgbClr val="1791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775704" y="1719072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0216" y="2148840"/>
            <a:ext cx="144475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0D2237"/>
                </a:solidFill>
                <a:latin typeface="Aptos"/>
              </a:defRPr>
            </a:pPr>
            <a:r>
              <a:t>ACT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0216" y="2468880"/>
            <a:ext cx="14447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0">
                <a:solidFill>
                  <a:srgbClr val="63717C"/>
                </a:solidFill>
                <a:latin typeface="Aptos"/>
              </a:defRPr>
            </a:pPr>
            <a:r>
              <a:t>Field work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10728" y="1463040"/>
            <a:ext cx="1627632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5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677656" y="1627632"/>
            <a:ext cx="502920" cy="365760"/>
          </a:xfrm>
          <a:prstGeom prst="roundRect">
            <a:avLst/>
          </a:prstGeom>
          <a:solidFill>
            <a:srgbClr val="1791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677656" y="1719072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02168" y="2148840"/>
            <a:ext cx="144475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0D2237"/>
                </a:solidFill>
                <a:latin typeface="Aptos"/>
              </a:defRPr>
            </a:pPr>
            <a:r>
              <a:t>PROVE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02168" y="2468880"/>
            <a:ext cx="14447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0">
                <a:solidFill>
                  <a:srgbClr val="63717C"/>
                </a:solidFill>
                <a:latin typeface="Aptos"/>
              </a:defRPr>
            </a:pPr>
            <a:r>
              <a:t>After-photo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012680" y="1463040"/>
            <a:ext cx="1627632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5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10579608" y="1627632"/>
            <a:ext cx="502920" cy="365760"/>
          </a:xfrm>
          <a:prstGeom prst="roundRect">
            <a:avLst/>
          </a:prstGeom>
          <a:solidFill>
            <a:srgbClr val="1791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579608" y="1719072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04120" y="2148840"/>
            <a:ext cx="144475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0D2237"/>
                </a:solidFill>
                <a:latin typeface="Aptos"/>
              </a:defRPr>
            </a:pPr>
            <a:r>
              <a:t>VERIFY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04120" y="2468880"/>
            <a:ext cx="14447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0">
                <a:solidFill>
                  <a:srgbClr val="63717C"/>
                </a:solidFill>
                <a:latin typeface="Aptos"/>
              </a:defRPr>
            </a:pPr>
            <a:r>
              <a:t>Confirm / reopen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342900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7917E"/>
                </a:solidFill>
                <a:latin typeface="Aptos"/>
              </a:defRPr>
            </a:pPr>
            <a:r>
              <a:t>SYSTEM ARCHITECTURE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" y="3794760"/>
            <a:ext cx="10561320" cy="393192"/>
          </a:xfrm>
          <a:prstGeom prst="roundRect">
            <a:avLst/>
          </a:prstGeom>
          <a:solidFill>
            <a:srgbClr val="E1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22960" y="3886200"/>
            <a:ext cx="1737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0D2237"/>
                </a:solidFill>
                <a:latin typeface="Aptos"/>
              </a:defRPr>
            </a:pPr>
            <a:r>
              <a:t>USER LAYER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514600" y="3886200"/>
            <a:ext cx="8229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222D37"/>
                </a:solidFill>
                <a:latin typeface="Aptos"/>
              </a:defRPr>
            </a:pPr>
            <a:r>
              <a:t>Citizen App • Field App • Municipal Dashboard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0080" y="4297680"/>
            <a:ext cx="10561320" cy="393192"/>
          </a:xfrm>
          <a:prstGeom prst="roundRect">
            <a:avLst/>
          </a:prstGeom>
          <a:solidFill>
            <a:srgbClr val="E0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22960" y="4389120"/>
            <a:ext cx="1737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0D2237"/>
                </a:solidFill>
                <a:latin typeface="Aptos"/>
              </a:defRPr>
            </a:pPr>
            <a:r>
              <a:t>INTELLIGENCE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514600" y="4389120"/>
            <a:ext cx="8229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222D37"/>
                </a:solidFill>
                <a:latin typeface="Aptos"/>
              </a:defRPr>
            </a:pPr>
            <a:r>
              <a:t>AI classification • duplicate similarity • severity suggestion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40080" y="4800600"/>
            <a:ext cx="10561320" cy="393192"/>
          </a:xfrm>
          <a:prstGeom prst="roundRect">
            <a:avLst/>
          </a:prstGeom>
          <a:solidFill>
            <a:srgbClr val="FFF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22960" y="4892040"/>
            <a:ext cx="1737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0D2237"/>
                </a:solidFill>
                <a:latin typeface="Aptos"/>
              </a:defRPr>
            </a:pPr>
            <a:r>
              <a:t>LOCATION + WORKFLOW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514600" y="4892040"/>
            <a:ext cx="8229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222D37"/>
                </a:solidFill>
                <a:latin typeface="Aptos"/>
              </a:defRPr>
            </a:pPr>
            <a:r>
              <a:t>GIS / ward mapping • routing • SLA • escalation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40080" y="5303520"/>
            <a:ext cx="10561320" cy="393192"/>
          </a:xfrm>
          <a:prstGeom prst="roundRect">
            <a:avLst/>
          </a:prstGeom>
          <a:solidFill>
            <a:srgbClr val="F6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22960" y="5394960"/>
            <a:ext cx="1737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0D2237"/>
                </a:solidFill>
                <a:latin typeface="Aptos"/>
              </a:defRPr>
            </a:pPr>
            <a:r>
              <a:t>DATA + SECURITY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514600" y="5394960"/>
            <a:ext cx="8229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222D37"/>
                </a:solidFill>
                <a:latin typeface="Aptos"/>
              </a:defRPr>
            </a:pPr>
            <a:r>
              <a:t>PostgreSQL/PostGIS • object storage • HTTPS • RBAC • audit trail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4360" y="6510528"/>
            <a:ext cx="6858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63717C"/>
                </a:solidFill>
                <a:latin typeface="Aptos"/>
              </a:defRPr>
            </a:pPr>
            <a:r>
              <a:t>CIVICPULSE  •  DTIE  •  GROUP 3  •  KLH BACHUPALLY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58200" y="6510528"/>
            <a:ext cx="3108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63717C"/>
                </a:solidFill>
                <a:latin typeface="Aptos"/>
              </a:defRPr>
            </a:pPr>
            <a:r>
              <a:t>CLEAN &amp; GREEN TECHNOLOGY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94360" y="292608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7917E"/>
                </a:solidFill>
                <a:latin typeface="Aptos"/>
              </a:defRPr>
            </a:pPr>
            <a:r>
              <a:t>09 • BUSINESS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76072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0D2237"/>
                </a:solidFill>
                <a:latin typeface="Aptos"/>
              </a:defRPr>
            </a:pPr>
            <a:r>
              <a:t>Lean Canvas — CivicPulse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10896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1">
                <a:solidFill>
                  <a:srgbClr val="63717C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207008"/>
            <a:ext cx="777240" cy="50292"/>
          </a:xfrm>
          <a:prstGeom prst="rect">
            <a:avLst/>
          </a:prstGeom>
          <a:solidFill>
            <a:srgbClr val="1791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1444752"/>
            <a:ext cx="352044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5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1444752"/>
            <a:ext cx="64008" cy="1353312"/>
          </a:xfrm>
          <a:prstGeom prst="rect">
            <a:avLst/>
          </a:prstGeom>
          <a:solidFill>
            <a:srgbClr val="1791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1609344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2237"/>
                </a:solidFill>
                <a:latin typeface="Aptos"/>
              </a:defRPr>
            </a:pPr>
            <a:r>
              <a:t>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011680"/>
            <a:ext cx="3063240" cy="6675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22D37"/>
                </a:solidFill>
                <a:latin typeface="Aptos"/>
              </a:defRPr>
            </a:pPr>
            <a:r>
              <a:t>Unclear ownership</a:t>
            </a:r>
            <a:br/>
            <a:r>
              <a:t>Progress uncertainty</a:t>
            </a:r>
            <a:br/>
            <a:r>
              <a:t>Unverified closure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444752"/>
            <a:ext cx="352044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5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25112" y="1444752"/>
            <a:ext cx="64008" cy="1353312"/>
          </a:xfrm>
          <a:prstGeom prst="rect">
            <a:avLst/>
          </a:prstGeom>
          <a:solidFill>
            <a:srgbClr val="F49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53712" y="1609344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2237"/>
                </a:solidFill>
                <a:latin typeface="Aptos"/>
              </a:defRPr>
            </a:pPr>
            <a:r>
              <a:t>CUSTOMER SEGMENTS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2011680"/>
            <a:ext cx="3063240" cy="6675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22D37"/>
                </a:solidFill>
                <a:latin typeface="Aptos"/>
              </a:defRPr>
            </a:pPr>
            <a:r>
              <a:t>Citizens</a:t>
            </a:r>
            <a:br/>
            <a:r>
              <a:t>Field teams</a:t>
            </a:r>
            <a:br/>
            <a:r>
              <a:t>Municipal supervisors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47304" y="1444752"/>
            <a:ext cx="352044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5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147304" y="1444752"/>
            <a:ext cx="64008" cy="1353312"/>
          </a:xfrm>
          <a:prstGeom prst="rect">
            <a:avLst/>
          </a:prstGeom>
          <a:solidFill>
            <a:srgbClr val="0D2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75904" y="1609344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2237"/>
                </a:solidFill>
                <a:latin typeface="Aptos"/>
              </a:defRPr>
            </a:pPr>
            <a:r>
              <a:t>UVP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75904" y="2011680"/>
            <a:ext cx="3063240" cy="6675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22D37"/>
                </a:solidFill>
                <a:latin typeface="Aptos"/>
              </a:defRPr>
            </a:pPr>
            <a:r>
              <a:t>Every civic issue gets</a:t>
            </a:r>
            <a:br/>
            <a:r>
              <a:t>an owner, deadline</a:t>
            </a:r>
            <a:br/>
            <a:r>
              <a:t>and proof.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017520"/>
            <a:ext cx="352044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5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02920" y="3017520"/>
            <a:ext cx="64008" cy="1353312"/>
          </a:xfrm>
          <a:prstGeom prst="rect">
            <a:avLst/>
          </a:prstGeom>
          <a:solidFill>
            <a:srgbClr val="1791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1520" y="3182112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2237"/>
                </a:solidFill>
                <a:latin typeface="Aptos"/>
              </a:defRPr>
            </a:pPr>
            <a:r>
              <a:t>SOLUTION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584448"/>
            <a:ext cx="3063240" cy="6675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22D37"/>
                </a:solidFill>
                <a:latin typeface="Aptos"/>
              </a:defRPr>
            </a:pPr>
            <a:r>
              <a:t>Traceable ticket</a:t>
            </a:r>
            <a:br/>
            <a:r>
              <a:t>Routing + SLA</a:t>
            </a:r>
            <a:br/>
            <a:r>
              <a:t>Evidence + verification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25112" y="3017520"/>
            <a:ext cx="352044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5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325112" y="3017520"/>
            <a:ext cx="64008" cy="1353312"/>
          </a:xfrm>
          <a:prstGeom prst="rect">
            <a:avLst/>
          </a:prstGeom>
          <a:solidFill>
            <a:srgbClr val="F49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53712" y="3182112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2237"/>
                </a:solidFill>
                <a:latin typeface="Aptos"/>
              </a:defRPr>
            </a:pPr>
            <a:r>
              <a:t>KEY METRICS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53712" y="3584448"/>
            <a:ext cx="3063240" cy="6675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22D37"/>
                </a:solidFill>
                <a:latin typeface="Aptos"/>
              </a:defRPr>
            </a:pPr>
            <a:r>
              <a:t>Assignment time</a:t>
            </a:r>
            <a:br/>
            <a:r>
              <a:t>SLA compliance</a:t>
            </a:r>
            <a:br/>
            <a:r>
              <a:t>Verified closure</a:t>
            </a:r>
            <a:br/>
            <a:r>
              <a:t>Satisfaction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47304" y="3017520"/>
            <a:ext cx="352044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5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147304" y="3017520"/>
            <a:ext cx="64008" cy="1353312"/>
          </a:xfrm>
          <a:prstGeom prst="rect">
            <a:avLst/>
          </a:prstGeom>
          <a:solidFill>
            <a:srgbClr val="0D2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375904" y="3182112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2237"/>
                </a:solidFill>
                <a:latin typeface="Aptos"/>
              </a:defRPr>
            </a:pPr>
            <a:r>
              <a:t>CHANNELS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75904" y="3584448"/>
            <a:ext cx="3063240" cy="6675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22D37"/>
                </a:solidFill>
                <a:latin typeface="Aptos"/>
              </a:defRPr>
            </a:pPr>
            <a:r>
              <a:t>Citizen interface</a:t>
            </a:r>
            <a:br/>
            <a:r>
              <a:t>Municipal dashboard</a:t>
            </a:r>
            <a:br/>
            <a:r>
              <a:t>Field workflow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4590288"/>
            <a:ext cx="352044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5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502920" y="4590288"/>
            <a:ext cx="64008" cy="1353312"/>
          </a:xfrm>
          <a:prstGeom prst="rect">
            <a:avLst/>
          </a:prstGeom>
          <a:solidFill>
            <a:srgbClr val="1791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31520" y="4754879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2237"/>
                </a:solidFill>
                <a:latin typeface="Aptos"/>
              </a:defRPr>
            </a:pPr>
            <a:r>
              <a:t>DIFFERENTIATOR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5157216"/>
            <a:ext cx="3063240" cy="6675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22D37"/>
                </a:solidFill>
                <a:latin typeface="Aptos"/>
              </a:defRPr>
            </a:pPr>
            <a:r>
              <a:t>One connected</a:t>
            </a:r>
            <a:br/>
            <a:r>
              <a:t>report-to-verification</a:t>
            </a:r>
            <a:br/>
            <a:r>
              <a:t>civic loop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325112" y="4590288"/>
            <a:ext cx="352044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5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325112" y="4590288"/>
            <a:ext cx="64008" cy="1353312"/>
          </a:xfrm>
          <a:prstGeom prst="rect">
            <a:avLst/>
          </a:prstGeom>
          <a:solidFill>
            <a:srgbClr val="F49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553712" y="4754879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2237"/>
                </a:solidFill>
                <a:latin typeface="Aptos"/>
              </a:defRPr>
            </a:pPr>
            <a:r>
              <a:t>COST STRUCTURE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53712" y="5157216"/>
            <a:ext cx="3063240" cy="6675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22D37"/>
                </a:solidFill>
                <a:latin typeface="Aptos"/>
              </a:defRPr>
            </a:pPr>
            <a:r>
              <a:t>Prototype tools</a:t>
            </a:r>
            <a:br/>
            <a:r>
              <a:t>Hosting / database</a:t>
            </a:r>
            <a:br/>
            <a:r>
              <a:t>GIS / integrations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147304" y="4590288"/>
            <a:ext cx="352044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5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8147304" y="4590288"/>
            <a:ext cx="64008" cy="1353312"/>
          </a:xfrm>
          <a:prstGeom prst="rect">
            <a:avLst/>
          </a:prstGeom>
          <a:solidFill>
            <a:srgbClr val="0D2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375904" y="4754879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2237"/>
                </a:solidFill>
                <a:latin typeface="Aptos"/>
              </a:defRPr>
            </a:pPr>
            <a:r>
              <a:t>VALUE / IMPACT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75904" y="5157216"/>
            <a:ext cx="3063240" cy="6675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22D37"/>
                </a:solidFill>
                <a:latin typeface="Aptos"/>
              </a:defRPr>
            </a:pPr>
            <a:r>
              <a:t>Less uncertainty</a:t>
            </a:r>
            <a:br/>
            <a:r>
              <a:t>Better routing</a:t>
            </a:r>
            <a:br/>
            <a:r>
              <a:t>Evidence-backed closure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4360" y="6510528"/>
            <a:ext cx="6858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63717C"/>
                </a:solidFill>
                <a:latin typeface="Aptos"/>
              </a:defRPr>
            </a:pPr>
            <a:r>
              <a:t>CIVICPULSE  •  DTIE  •  GROUP 3  •  KLH BACHUPALLY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58200" y="6510528"/>
            <a:ext cx="3108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63717C"/>
                </a:solidFill>
                <a:latin typeface="Aptos"/>
              </a:defRPr>
            </a:pPr>
            <a:r>
              <a:t>CLEAN &amp; GREEN TECHNOLOGY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94360" y="292608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7917E"/>
                </a:solidFill>
                <a:latin typeface="Aptos"/>
              </a:defRPr>
            </a:pPr>
            <a:r>
              <a:t>10 • CAPITAL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76072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0D2237"/>
                </a:solidFill>
                <a:latin typeface="Aptos"/>
              </a:defRPr>
            </a:pPr>
            <a:r>
              <a:t>Financial plan — prototype first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10896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1">
                <a:solidFill>
                  <a:srgbClr val="63717C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207008"/>
            <a:ext cx="777240" cy="50292"/>
          </a:xfrm>
          <a:prstGeom prst="rect">
            <a:avLst/>
          </a:prstGeom>
          <a:solidFill>
            <a:srgbClr val="1791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371600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0D2237"/>
                </a:solidFill>
                <a:latin typeface="Aptos"/>
              </a:defRPr>
            </a:pPr>
            <a:r>
              <a:t>The current project is an academic-scale prototype. Real deployment cost needs a separate pilot study.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240280"/>
            <a:ext cx="2423160" cy="1508760"/>
          </a:xfrm>
          <a:prstGeom prst="roundRect">
            <a:avLst/>
          </a:prstGeom>
          <a:solidFill>
            <a:srgbClr val="F6F9FA"/>
          </a:solidFill>
          <a:ln>
            <a:solidFill>
              <a:srgbClr val="D5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68680" y="2450592"/>
            <a:ext cx="502920" cy="502920"/>
          </a:xfrm>
          <a:prstGeom prst="roundRect">
            <a:avLst/>
          </a:prstGeom>
          <a:solidFill>
            <a:srgbClr val="1791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508760" y="2468880"/>
            <a:ext cx="1325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D2237"/>
                </a:solidFill>
                <a:latin typeface="Aptos"/>
              </a:defRPr>
            </a:pPr>
            <a:r>
              <a:t>PEOPLE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154680"/>
            <a:ext cx="1965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222D37"/>
                </a:solidFill>
                <a:latin typeface="Aptos"/>
              </a:defRPr>
            </a:pPr>
            <a:r>
              <a:t>6-member team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9000" y="2240280"/>
            <a:ext cx="2423160" cy="1508760"/>
          </a:xfrm>
          <a:prstGeom prst="roundRect">
            <a:avLst/>
          </a:prstGeom>
          <a:solidFill>
            <a:srgbClr val="F6F9FA"/>
          </a:solidFill>
          <a:ln>
            <a:solidFill>
              <a:srgbClr val="D5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611880" y="2450592"/>
            <a:ext cx="502920" cy="502920"/>
          </a:xfrm>
          <a:prstGeom prst="roundRect">
            <a:avLst/>
          </a:prstGeom>
          <a:solidFill>
            <a:srgbClr val="F49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251960" y="2468880"/>
            <a:ext cx="1325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D2237"/>
                </a:solidFill>
                <a:latin typeface="Aptos"/>
              </a:defRPr>
            </a:pPr>
            <a:r>
              <a:t>DEVICES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3154680"/>
            <a:ext cx="1965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222D37"/>
                </a:solidFill>
                <a:latin typeface="Aptos"/>
              </a:defRPr>
            </a:pPr>
            <a:r>
              <a:t>Smartphone + laptop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2240280"/>
            <a:ext cx="2423160" cy="1508760"/>
          </a:xfrm>
          <a:prstGeom prst="roundRect">
            <a:avLst/>
          </a:prstGeom>
          <a:solidFill>
            <a:srgbClr val="F6F9FA"/>
          </a:solidFill>
          <a:ln>
            <a:solidFill>
              <a:srgbClr val="D5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355080" y="2450592"/>
            <a:ext cx="502920" cy="502920"/>
          </a:xfrm>
          <a:prstGeom prst="roundRect">
            <a:avLst/>
          </a:prstGeom>
          <a:solidFill>
            <a:srgbClr val="0D2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995160" y="2468880"/>
            <a:ext cx="1325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D2237"/>
                </a:solidFill>
                <a:latin typeface="Aptos"/>
              </a:defRPr>
            </a:pPr>
            <a:r>
              <a:t>SOFTWARE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154680"/>
            <a:ext cx="1965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222D37"/>
                </a:solidFill>
                <a:latin typeface="Aptos"/>
              </a:defRPr>
            </a:pPr>
            <a:r>
              <a:t>Prototype UI + sample data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15400" y="2240280"/>
            <a:ext cx="2423160" cy="1508760"/>
          </a:xfrm>
          <a:prstGeom prst="roundRect">
            <a:avLst/>
          </a:prstGeom>
          <a:solidFill>
            <a:srgbClr val="F6F9FA"/>
          </a:solidFill>
          <a:ln>
            <a:solidFill>
              <a:srgbClr val="D5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9098280" y="2450592"/>
            <a:ext cx="502920" cy="502920"/>
          </a:xfrm>
          <a:prstGeom prst="roundRect">
            <a:avLst/>
          </a:prstGeom>
          <a:solidFill>
            <a:srgbClr val="1791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738360" y="2468880"/>
            <a:ext cx="1325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D2237"/>
                </a:solidFill>
                <a:latin typeface="Aptos"/>
              </a:defRPr>
            </a:pPr>
            <a:r>
              <a:t>LOCATION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3154680"/>
            <a:ext cx="1965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222D37"/>
                </a:solidFill>
                <a:latin typeface="Aptos"/>
              </a:defRPr>
            </a:pPr>
            <a:r>
              <a:t>Map / GPS concept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251960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7917E"/>
                </a:solidFill>
                <a:latin typeface="Aptos"/>
              </a:defRPr>
            </a:pPr>
            <a:r>
              <a:t>FUTURE COST DRIVERS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4663440"/>
            <a:ext cx="237744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5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2960" y="4846320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0D2237"/>
                </a:solidFill>
                <a:latin typeface="Aptos"/>
              </a:defRPr>
            </a:pPr>
            <a:r>
              <a:t>Hosting / database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429000" y="4663440"/>
            <a:ext cx="237744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5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520440" y="4846320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0D2237"/>
                </a:solidFill>
                <a:latin typeface="Aptos"/>
              </a:defRPr>
            </a:pPr>
            <a:r>
              <a:t>GIS &amp; mapping services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26480" y="4663440"/>
            <a:ext cx="237744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5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217920" y="4846320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0D2237"/>
                </a:solidFill>
                <a:latin typeface="Aptos"/>
              </a:defRPr>
            </a:pPr>
            <a:r>
              <a:t>Municipal integrations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823960" y="4663440"/>
            <a:ext cx="237744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5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915400" y="4846320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0D2237"/>
                </a:solidFill>
                <a:latin typeface="Aptos"/>
              </a:defRPr>
            </a:pPr>
            <a:r>
              <a:t>Pilot testing &amp; support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510528"/>
            <a:ext cx="6858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63717C"/>
                </a:solidFill>
                <a:latin typeface="Aptos"/>
              </a:defRPr>
            </a:pPr>
            <a:r>
              <a:t>CIVICPULSE  •  DTIE  •  GROUP 3  •  KLH BACHUPALLY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58200" y="6510528"/>
            <a:ext cx="3108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63717C"/>
                </a:solidFill>
                <a:latin typeface="Aptos"/>
              </a:defRPr>
            </a:pPr>
            <a:r>
              <a:t>CLEAN &amp; GREEN TECHNOLOGY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94360" y="292608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7917E"/>
                </a:solidFill>
                <a:latin typeface="Aptos"/>
              </a:defRPr>
            </a:pPr>
            <a:r>
              <a:t>11 •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76072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0D2237"/>
                </a:solidFill>
                <a:latin typeface="Aptos"/>
              </a:defRPr>
            </a:pPr>
            <a:r>
              <a:t>From prototype to measurable civic pilot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10896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1">
                <a:solidFill>
                  <a:srgbClr val="63717C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207008"/>
            <a:ext cx="777240" cy="50292"/>
          </a:xfrm>
          <a:prstGeom prst="rect">
            <a:avLst/>
          </a:prstGeom>
          <a:solidFill>
            <a:srgbClr val="1791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" name="Connector 7"/>
          <p:cNvCxnSpPr/>
          <p:nvPr/>
        </p:nvCxnSpPr>
        <p:spPr>
          <a:xfrm>
            <a:off x="2743200" y="2743200"/>
            <a:ext cx="640080" cy="0"/>
          </a:xfrm>
          <a:prstGeom prst="line">
            <a:avLst/>
          </a:prstGeom>
          <a:ln w="22860">
            <a:solidFill>
              <a:srgbClr val="6371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40080" y="1874519"/>
            <a:ext cx="21031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5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325880" y="1600200"/>
            <a:ext cx="731520" cy="548640"/>
          </a:xfrm>
          <a:prstGeom prst="roundRect">
            <a:avLst/>
          </a:prstGeom>
          <a:solidFill>
            <a:srgbClr val="1791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325880" y="1719072"/>
            <a:ext cx="731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51460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0D2237"/>
                </a:solidFill>
                <a:latin typeface="Aptos"/>
              </a:defRPr>
            </a:pPr>
            <a:r>
              <a:t>PROTOTYPE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2926080"/>
            <a:ext cx="1737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63717C"/>
                </a:solidFill>
                <a:latin typeface="Aptos"/>
              </a:defRPr>
            </a:pPr>
            <a:r>
              <a:t>Core reporting flow</a:t>
            </a:r>
            <a:br/>
            <a:r>
              <a:t>+ sample data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486400" y="2743200"/>
            <a:ext cx="640080" cy="0"/>
          </a:xfrm>
          <a:prstGeom prst="line">
            <a:avLst/>
          </a:prstGeom>
          <a:ln w="22860">
            <a:solidFill>
              <a:srgbClr val="6371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383280" y="1874519"/>
            <a:ext cx="21031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5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069080" y="1600200"/>
            <a:ext cx="731520" cy="548640"/>
          </a:xfrm>
          <a:prstGeom prst="roundRect">
            <a:avLst/>
          </a:prstGeom>
          <a:solidFill>
            <a:srgbClr val="F49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069080" y="1719072"/>
            <a:ext cx="731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251460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0D2237"/>
                </a:solidFill>
                <a:latin typeface="Aptos"/>
              </a:defRPr>
            </a:pPr>
            <a:r>
              <a:t>VALIDATE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2926080"/>
            <a:ext cx="1737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63717C"/>
                </a:solidFill>
                <a:latin typeface="Aptos"/>
              </a:defRPr>
            </a:pPr>
            <a:r>
              <a:t>Routing, SLA,</a:t>
            </a:r>
            <a:br/>
            <a:r>
              <a:t>evidence, verification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229600" y="2743200"/>
            <a:ext cx="640080" cy="0"/>
          </a:xfrm>
          <a:prstGeom prst="line">
            <a:avLst/>
          </a:prstGeom>
          <a:ln w="22860">
            <a:solidFill>
              <a:srgbClr val="6371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126480" y="1874519"/>
            <a:ext cx="21031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5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812280" y="1600200"/>
            <a:ext cx="731520" cy="548640"/>
          </a:xfrm>
          <a:prstGeom prst="roundRect">
            <a:avLst/>
          </a:prstGeom>
          <a:solidFill>
            <a:srgbClr val="0D2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12280" y="1719072"/>
            <a:ext cx="731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251460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0D2237"/>
                </a:solidFill>
                <a:latin typeface="Aptos"/>
              </a:defRPr>
            </a:pPr>
            <a:r>
              <a:t>PILOT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2926080"/>
            <a:ext cx="1737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63717C"/>
                </a:solidFill>
                <a:latin typeface="Aptos"/>
              </a:defRPr>
            </a:pPr>
            <a:r>
              <a:t>Selected ward /</a:t>
            </a:r>
            <a:br/>
            <a:r>
              <a:t>department + feedback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869680" y="1874519"/>
            <a:ext cx="21031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5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9555480" y="1600200"/>
            <a:ext cx="731520" cy="548640"/>
          </a:xfrm>
          <a:prstGeom prst="roundRect">
            <a:avLst/>
          </a:prstGeom>
          <a:solidFill>
            <a:srgbClr val="1791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555480" y="1719072"/>
            <a:ext cx="731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06840" y="251460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0D2237"/>
                </a:solidFill>
                <a:latin typeface="Aptos"/>
              </a:defRPr>
            </a:pPr>
            <a:r>
              <a:t>SCALE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59" y="2926080"/>
            <a:ext cx="1737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63717C"/>
                </a:solidFill>
                <a:latin typeface="Aptos"/>
              </a:defRPr>
            </a:pPr>
            <a:r>
              <a:t>More departments,</a:t>
            </a:r>
            <a:br/>
            <a:r>
              <a:t>integrations + GIS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448056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7917E"/>
                </a:solidFill>
                <a:latin typeface="Aptos"/>
              </a:defRPr>
            </a:pPr>
            <a:r>
              <a:t>SUCCESS MEASURES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489204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0D2237"/>
                </a:solidFill>
                <a:latin typeface="Aptos"/>
              </a:defRPr>
            </a:pPr>
            <a:r>
              <a:t>Assignment time • SLA compliance • Duplicate-report rate • Verified closure • Citizen satisfaction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6510528"/>
            <a:ext cx="6858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63717C"/>
                </a:solidFill>
                <a:latin typeface="Aptos"/>
              </a:defRPr>
            </a:pPr>
            <a:r>
              <a:t>CIVICPULSE  •  DTIE  •  GROUP 3  •  KLH BACHUPALLY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58200" y="6510528"/>
            <a:ext cx="3108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63717C"/>
                </a:solidFill>
                <a:latin typeface="Aptos"/>
              </a:defRPr>
            </a:pPr>
            <a:r>
              <a:t>CLEAN &amp; GREEN TECHNOLOGY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2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31520" y="822960"/>
            <a:ext cx="5029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THE CIVIC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68580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Aptos"/>
              </a:defRPr>
            </a:pPr>
            <a:r>
              <a:t>Every civic issue deserves</a:t>
            </a:r>
            <a:br/>
            <a:r>
              <a:t>an owner, a deadline and proof.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657600"/>
            <a:ext cx="1783080" cy="713232"/>
          </a:xfrm>
          <a:prstGeom prst="roundRect">
            <a:avLst/>
          </a:prstGeom>
          <a:solidFill>
            <a:srgbClr val="1791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3877056"/>
            <a:ext cx="1783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REPORT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14600" y="4014215"/>
            <a:ext cx="320039" cy="0"/>
          </a:xfrm>
          <a:prstGeom prst="line">
            <a:avLst/>
          </a:prstGeom>
          <a:ln w="19050">
            <a:solidFill>
              <a:srgbClr val="E0F6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880360" y="3657600"/>
            <a:ext cx="1783080" cy="713232"/>
          </a:xfrm>
          <a:prstGeom prst="roundRect">
            <a:avLst/>
          </a:prstGeom>
          <a:solidFill>
            <a:srgbClr val="F49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880360" y="3877056"/>
            <a:ext cx="1783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ROUTE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663440" y="4014215"/>
            <a:ext cx="320040" cy="0"/>
          </a:xfrm>
          <a:prstGeom prst="line">
            <a:avLst/>
          </a:prstGeom>
          <a:ln w="19050">
            <a:solidFill>
              <a:srgbClr val="E0F6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029200" y="3657600"/>
            <a:ext cx="1783080" cy="713232"/>
          </a:xfrm>
          <a:prstGeom prst="roundRect">
            <a:avLst/>
          </a:prstGeom>
          <a:solidFill>
            <a:srgbClr val="1791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0" y="3877056"/>
            <a:ext cx="1783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RESOLVE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812280" y="4014215"/>
            <a:ext cx="320040" cy="0"/>
          </a:xfrm>
          <a:prstGeom prst="line">
            <a:avLst/>
          </a:prstGeom>
          <a:ln w="19050">
            <a:solidFill>
              <a:srgbClr val="E0F6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178040" y="3657600"/>
            <a:ext cx="1783080" cy="713232"/>
          </a:xfrm>
          <a:prstGeom prst="roundRect">
            <a:avLst/>
          </a:prstGeom>
          <a:solidFill>
            <a:srgbClr val="0D2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78040" y="3877056"/>
            <a:ext cx="1783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PROVE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961120" y="4014215"/>
            <a:ext cx="320040" cy="0"/>
          </a:xfrm>
          <a:prstGeom prst="line">
            <a:avLst/>
          </a:prstGeom>
          <a:ln w="19050">
            <a:solidFill>
              <a:srgbClr val="E0F6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326880" y="3657600"/>
            <a:ext cx="1783080" cy="713232"/>
          </a:xfrm>
          <a:prstGeom prst="roundRect">
            <a:avLst/>
          </a:prstGeom>
          <a:solidFill>
            <a:srgbClr val="F49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326880" y="3877056"/>
            <a:ext cx="1783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VERIFY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983480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E0F6EF"/>
                </a:solidFill>
                <a:latin typeface="Aptos"/>
              </a:defRPr>
            </a:pPr>
            <a:r>
              <a:t>CivicPulse transforms a citizen observation into a measurable municipal action.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897880"/>
            <a:ext cx="10149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THANK YOU  •  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562C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</TotalTime>
  <Words>1042</Words>
  <Application>Microsoft Office PowerPoint</Application>
  <PresentationFormat>Widescreen</PresentationFormat>
  <Paragraphs>251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Carlito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Dr. G. Suresh Kumar</dc:creator>
  <cp:lastModifiedBy>srishouri45@outlook.com</cp:lastModifiedBy>
  <cp:revision>7</cp:revision>
  <dcterms:created xsi:type="dcterms:W3CDTF">2024-11-15T04:43:19Z</dcterms:created>
  <dcterms:modified xsi:type="dcterms:W3CDTF">2026-10-12T17:46:29Z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astSaved">
    <vt:filetime>2024-11-15T00:00:00Z</vt:filetime>
  </property>
  <property fmtid="{D5CDD505-2E9C-101B-9397-08002B2CF9AE}" pid="3" name="Producer">
    <vt:lpwstr>3-Heights(TM) PDF Security Shell 4.8.25.2 (http://www.pdf-tools.com)</vt:lpwstr>
  </property>
</Properties>
</file>